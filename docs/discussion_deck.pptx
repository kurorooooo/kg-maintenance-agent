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3003b65a-ee08-2c79-010d-1d4d5a27f853}">
          <p14:sldIdLst>
            <p14:sldId id="256"/>
          </p14:sldIdLst>
        </p14:section>
        <p14:section name="エグゼクティブサマリー" id="{c7d398ce-98a1-225b-c0d8-366d4a3d1136}">
          <p14:sldIdLst>
            <p14:sldId id="257"/>
          </p14:sldIdLst>
        </p14:section>
        <p14:section name="1. 背景と課題" id="{94abdb2f-d762-0fc4-80e0-c0863bc3b58c}">
          <p14:sldIdLst>
            <p14:sldId id="258"/>
            <p14:sldId id="259"/>
            <p14:sldId id="260"/>
          </p14:sldIdLst>
        </p14:section>
        <p14:section name="2. 提案するアプローチ" id="{d111bd90-dd03-4c1d-26dc-ac6224fbc82f}">
          <p14:sldIdLst>
            <p14:sldId id="261"/>
            <p14:sldId id="262"/>
            <p14:sldId id="263"/>
            <p14:sldId id="264"/>
            <p14:sldId id="265"/>
          </p14:sldIdLst>
        </p14:section>
        <p14:section name="3. デモ：架空のA工場" id="{a05436d1-14db-0b2f-fa48-9eb00fab555b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4. 御社で構築するには" id="{4ef4b2ee-2b3e-b651-11e2-4bc752b2fe78}">
          <p14:sldIdLst>
            <p14:sldId id="277"/>
            <p14:sldId id="278"/>
            <p14:sldId id="279"/>
            <p14:sldId id="280"/>
            <p14:sldId id="281"/>
          </p14:sldIdLst>
        </p14:section>
        <p14:section name="5. ディスカッション" id="{8f532798-1774-be6d-d371-16fca969aa23}">
          <p14:sldIdLst>
            <p14:sldId id="282"/>
            <p14:sldId id="283"/>
            <p14:sldId id="284"/>
          </p14:sldIdLst>
        </p14:section>
        <p14:section name="付録" id="{b50bd1d9-1730-06d1-1fb3-6cf3028f7842}">
          <p14:sldIdLst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C4049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C4049"/>
                </a:solidFill>
                <a:latin typeface="+mn-lt"/>
              </a:rPr>
              <a:t>直近1年のベアリング起因の停止時間（分）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停止時間（分）</c:v>
                </c:pt>
              </c:strCache>
            </c:strRef>
          </c:tx>
          <c:spPr>
            <a:solidFill>
              <a:srgbClr val="2F54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C404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54F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54F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54F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F54F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F54F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F54F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F54F7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P-301 冷却ポンプ</c:v>
                  </c:pt>
                  <c:pt idx="1">
                    <c:v>P-101 冷却ポンプ</c:v>
                  </c:pt>
                  <c:pt idx="2">
                    <c:v>CV-201 主搬送コンベア</c:v>
                  </c:pt>
                  <c:pt idx="3">
                    <c:v>CT-301 冷却塔</c:v>
                  </c:pt>
                  <c:pt idx="4">
                    <c:v>P-201 冷却ポンプ</c:v>
                  </c:pt>
                  <c:pt idx="5">
                    <c:v>CV-203 梱包前コンベア</c:v>
                  </c:pt>
                  <c:pt idx="6">
                    <c:v>CV-101 搬出コンベア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935</c:v>
                </c:pt>
                <c:pt idx="1">
                  <c:v>646</c:v>
                </c:pt>
                <c:pt idx="2">
                  <c:v>521</c:v>
                </c:pt>
                <c:pt idx="3">
                  <c:v>386</c:v>
                </c:pt>
                <c:pt idx="4">
                  <c:v>328</c:v>
                </c:pt>
                <c:pt idx="5">
                  <c:v>321</c:v>
                </c:pt>
                <c:pt idx="6">
                  <c:v>273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C404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404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0"/>
          <c:min val="0"/>
        </c:scaling>
        <c:delete val="0"/>
        <c:axPos val="b"/>
        <c:majorGridlines>
          <c:spPr>
            <a:ln w="6350" cap="flat">
              <a:solidFill>
                <a:srgbClr val="EEF0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C404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2F54F7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463040"/>
            <a:ext cx="4206240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669280" y="1554480"/>
            <a:ext cx="585216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3C4049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2F5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840480"/>
            <a:ext cx="10332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DCE4FE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3C4049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rgbClr val="000000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4049"/>
                </a:solidFill>
              </a:rPr>
              <a:t>AIdeaLab  |  設備保全ナレッジグラフ × AIエージェント  |  ディスカッション資料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46304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設備保全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ナレッジグラフ ×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AIエージェント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669280" y="155448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根拠付きで答える保全アシスタントの構築に向けて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C4049"/>
                </a:solidFill>
              </a:rPr>
              <a:t>新規提案に向けたディスカッション資料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C4049"/>
                </a:solidFill>
              </a:rPr>
              <a:t>大手製造業 設備保全・生産技術・DX推進部門 向け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F54F7"/>
                </a:solidFill>
              </a:rPr>
              <a:t>AIdeaLab　2026年10月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669280" y="59436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本資料は合成データによるデモ結果に基づく議論用の資料です。実在の企業・設備・人物とは関係ありません。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エグゼクティブサマリー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設備保全のノウハウをグラフにつなげば、根拠付きで答えるAIアシスタントを数週間で作れる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94360" cy="59436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17309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00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課題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3154680" y="1581912"/>
            <a:ext cx="85313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保全の判断材料は設備台帳・作業報告・マニュアル・ベテランの頭に散在し、夜間や退職で途切れる。文書検索型のAIでは「別ラインの同型機の事例」のような横断の問いに答えられない。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788920"/>
            <a:ext cx="594360" cy="59436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" y="291967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7889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提案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3154680" y="2770632"/>
            <a:ext cx="85313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設備→部品→故障モード→過去対応→担当者をナレッジグラフとしてつなぎ、AIエージェントが読み取り専用で辿って答える。回答には作業報告IDや手順書のページを根拠として必ず添える。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2920" y="3977640"/>
            <a:ext cx="594360" cy="59436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" y="4108399"/>
            <a:ext cx="332842" cy="33284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776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検証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3154680" y="3959352"/>
            <a:ext cx="85313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架空のA工場（3ライン12設備、作業報告80件、手順書5冊）で代表質問4本すべてに正しい根拠付きで回答。横断・集計・出典提示が実データなしで再現できることを確認した。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2920" y="5166360"/>
            <a:ext cx="594360" cy="59436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" y="529711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166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本日の論点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3154680" y="5148072"/>
            <a:ext cx="85313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御社でどのライン・設備から始めるか、台帳・作業報告・マニュアルの所在と形式、代表質問と正解の定義、現場・保全・DXの体制。4週間のPoCを提案する。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CE4FE"/>
                </a:solidFill>
              </a:rPr>
              <a:t>1  </a:t>
            </a:r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背景と課題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8404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4FE"/>
                </a:solidFill>
              </a:rPr>
              <a:t>保全ノウハウはどこにあり、なぜ今のAIでは届かないのか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1. 背景と課題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保全の判断材料は4か所に散在し、夜間の異常やベテランの退職で判断が途切れる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2697480" cy="2514600"/>
          </a:xfrm>
          <a:prstGeom prst="roundRect">
            <a:avLst>
              <a:gd name="adj" fmla="val 290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9952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9019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設備台帳・部品表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5146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設備管理システムやExcelに型式・設置年・部品構成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同型機がどこに何台あるかは台帳をまたいで探す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1645920"/>
            <a:ext cx="2697480" cy="2514600"/>
          </a:xfrm>
          <a:prstGeom prst="roundRect">
            <a:avLst>
              <a:gd name="adj" fmla="val 290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66160" y="187452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861" y="19952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51960" y="19019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作業報告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25146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CMMSや日報、紙に「いつ・何が起き・何をしたか」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過去の類似事例は担当者の記憶に頼って探す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72200" y="1645920"/>
            <a:ext cx="2697480" cy="2514600"/>
          </a:xfrm>
          <a:prstGeom prst="roundRect">
            <a:avLst>
              <a:gd name="adj" fmla="val 290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0" y="187452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501" y="199522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086600" y="19019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マニュアル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0" y="25146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メーカー発行のPDFや紙。判定基準や交換手順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「どのページに書いてあったか」を覚えている人が必要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06840" y="1645920"/>
            <a:ext cx="2697480" cy="2514600"/>
          </a:xfrm>
          <a:prstGeom prst="roundRect">
            <a:avLst>
              <a:gd name="adj" fmla="val 290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235440" y="187452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6141" y="199522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921240" y="19019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ベテランの経験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9235440" y="25146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症状から原因を絞る勘所、再発時に疑うべき箇所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夜勤帯は不在。定年で失われる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02920" y="4526280"/>
            <a:ext cx="1118311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777240" y="4663440"/>
            <a:ext cx="10634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A工場（デモ）での例　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プレス機の3つの手順（スライドガイド交換、クラッチブレーキ交換、フライホイールベアリング交換）は資格「プレス機械作業主任者」を持つ技術者が1名のみで、2026年度末に定年予定。この事実は台帳・作業報告・技能台帳を別々に見ていると気づけない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1. 背景と課題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文書検索型のAI（RAG）は「別ラインの同型機の事例」のような横断の問いに答えられない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408676" cy="4480560"/>
          </a:xfrm>
          <a:prstGeom prst="roundRect">
            <a:avLst>
              <a:gd name="adj" fmla="val 16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文書検索型AI（RAG のみ）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486003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文書の断片を「似ている文章」で探す。P-301 のマニュアルや報告書は見つかる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別ラインの同型機の報告書には「P-301」と書かれていないため出てこない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「直近1年でベアリング起因の停止が多い設備」のような集計ができない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根拠は文章の断片。どの設備・どの作業報告かを人が読み解く必要がある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部品番号や納期を文脈から推測して書いてしまう危険がある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77356" y="1645920"/>
            <a:ext cx="5408676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51676" y="1828800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ナレッジグラフ ＋ AIエージェント（提案）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51676" y="2377440"/>
            <a:ext cx="486003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設備・部品・故障モード・作業報告を「もの」と「関係」として格納する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P-301 → 型式 CP-200 ← P-101 と型式を経由して別ラインの同型機へ横断する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故障モードのカテゴリや日付で絞って集計できる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根拠は作業報告ID・手順ID・手順書のページ。グラフ上のパスとして可視化できる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グラフにない部品番号・納期は作らず「記録なし」と答える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57316" y="3886200"/>
            <a:ext cx="274320" cy="0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CE4FE"/>
                </a:solidFill>
              </a:rPr>
              <a:t>2  </a:t>
            </a:r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提案するアプローチ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8404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4FE"/>
                </a:solidFill>
              </a:rPr>
              <a:t>社内データをナレッジグラフにつなぎ、AIが根拠パス付きで答える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2. 提案するアプローチ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社内の設備情報と対応履歴をグラフにつなぎ、AIエージェントが読み取り専用で辿って答える構成を提案する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御社の既存データ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37744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2039112"/>
            <a:ext cx="530352" cy="53035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325" y="2155789"/>
            <a:ext cx="296997" cy="29699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9659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設備台帳・部品構成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2834640"/>
            <a:ext cx="237744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2648" y="2907792"/>
            <a:ext cx="530352" cy="53035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325" y="3024469"/>
            <a:ext cx="296997" cy="29699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28346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作業報告（CMMS）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02920" y="3703320"/>
            <a:ext cx="237744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2648" y="3776472"/>
            <a:ext cx="530352" cy="53035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325" y="3893149"/>
            <a:ext cx="296997" cy="29699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37033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マニュアル PDF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02920" y="4572000"/>
            <a:ext cx="237744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12648" y="4645152"/>
            <a:ext cx="530352" cy="53035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325" y="4761829"/>
            <a:ext cx="296997" cy="29699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80160" y="45720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技能台帳・購買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2971800" y="3566160"/>
            <a:ext cx="502920" cy="0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3520440" y="1965960"/>
            <a:ext cx="1737360" cy="32461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3611880" y="2103120"/>
            <a:ext cx="1554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変換・投入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表記ゆれの正規化、故障モード辞書化、マニュアルの段落分割と埋め込み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303520" y="3566160"/>
            <a:ext cx="502920" cy="0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5852160" y="1965960"/>
            <a:ext cx="2194560" cy="324612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2240280"/>
            <a:ext cx="548640" cy="54864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943600" y="2834640"/>
            <a:ext cx="201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ナレッジグラフ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Neo4j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設備・部品・故障モード・作業報告・手順・技術者・手順書の段落を「もの」と「関係」で格納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8092440" y="3566160"/>
            <a:ext cx="502920" cy="0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29" name="Shape 22"/>
          <p:cNvSpPr/>
          <p:nvPr/>
        </p:nvSpPr>
        <p:spPr>
          <a:xfrm>
            <a:off x="8641080" y="1965960"/>
            <a:ext cx="30175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8778240" y="205740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接続層（MCP）読み取り専用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AIが実行できるのは読み取りクエリと手順書検索のみ。書き込みは物理的に不可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641080" y="3703320"/>
            <a:ext cx="30175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8778240" y="379476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AIエージェント（Claude）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症状から起点を決め、グラフを辿り、固定の形式で回答。末尾に根拠IDとパスを列挙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502920" y="5486400"/>
            <a:ext cx="11183112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777240" y="5486400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利用者（保全担当者）　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チャットで質問し、回答と並べてグラフ上の根拠パスを画面で確認する。自作部分はデータ変換・投入・手順書検索の3スクリプトのみで、グラフDBとAIは既製品を組み合わせる。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2. 提案するアプローチ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仕組みは3つ：ベクトルで入口を見つけ、グラフで文脈を辿り、IDで根拠を示す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483864" cy="3931920"/>
          </a:xfrm>
          <a:prstGeom prst="roundRect">
            <a:avLst>
              <a:gd name="adj" fmla="val 21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201533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5176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① 意味検索で入口を決める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154680"/>
            <a:ext cx="2935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「振動が上がっている」という言い回しを数値ベクトルにし、手順書の中で意味の近い段落を探す。段落は部位・故障モードにリンク済みなので、ここから構造検索に入れる。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93776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手順書検索ツール（ローカル埋め込みモデル、APIキー不要）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52544" y="1645920"/>
            <a:ext cx="3483864" cy="3931920"/>
          </a:xfrm>
          <a:prstGeom prst="roundRect">
            <a:avLst>
              <a:gd name="adj" fmla="val 21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1874520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682" y="2015338"/>
            <a:ext cx="358445" cy="35844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26864" y="265176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② グラフで文脈を辿る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4626864" y="3154680"/>
            <a:ext cx="2935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設備→型式→部品→故障モード→作業報告→手順→部品→サプライヤー、という関係を問い合わせ言語（Cypher）で辿る。件数や停止時間の集計もここで行う。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626864" y="493776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グラフ問い合わせツール（読み取り専用）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202168" y="1645920"/>
            <a:ext cx="3483864" cy="3931920"/>
          </a:xfrm>
          <a:prstGeom prst="roundRect">
            <a:avLst>
              <a:gd name="adj" fmla="val 21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76488" y="1874520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7306" y="2015338"/>
            <a:ext cx="358445" cy="35844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76488" y="265176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③ IDで根拠を固定する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8476488" y="3154680"/>
            <a:ext cx="2935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回答の末尾に作業報告ID・手順ID・手順書の段落ID（出典とページ）と、辿ったパスを必ず列挙する。グラフにないことは「記録なし」と答える。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476488" y="493776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システムプロンプトで回答形式を固定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502920" y="576072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説明の一言：「ベクトルで入口を見つけ、グラフで文脈を辿り、IDで根拠を示す」。ベクトル検索は入口を決めるだけで、答えの中身は常にグラフの構造から取る。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2. 提案するアプローチ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12種類のデータを18の関係でつなぎ、故障モードをハブに置く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74520" y="2020824"/>
            <a:ext cx="587045" cy="0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3840480" y="2020824"/>
            <a:ext cx="587045" cy="0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806440" y="2020824"/>
            <a:ext cx="587045" cy="0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109460" y="2258568"/>
            <a:ext cx="0" cy="968532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5488526" y="2258568"/>
            <a:ext cx="1301466" cy="968532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3893515" y="3483864"/>
            <a:ext cx="587045" cy="0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5143500" y="3740628"/>
            <a:ext cx="0" cy="968532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V="1">
            <a:off x="5462969" y="3740628"/>
            <a:ext cx="1301466" cy="968532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109460" y="3721608"/>
            <a:ext cx="0" cy="968532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3177540" y="2277588"/>
            <a:ext cx="0" cy="2431572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V="1">
            <a:off x="3177540" y="3740628"/>
            <a:ext cx="0" cy="968532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3497009" y="3740628"/>
            <a:ext cx="1301466" cy="968532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40480" y="4946904"/>
            <a:ext cx="587045" cy="0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H="1">
            <a:off x="1927555" y="4946904"/>
            <a:ext cx="587045" cy="0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1211580" y="2277588"/>
            <a:ext cx="0" cy="2431572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H="1" flipV="1">
            <a:off x="5347960" y="3740628"/>
            <a:ext cx="1572185" cy="1974372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7109460" y="3740628"/>
            <a:ext cx="0" cy="1974372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8640" y="1783080"/>
            <a:ext cx="1325880" cy="475488"/>
          </a:xfrm>
          <a:prstGeom prst="roundRect">
            <a:avLst>
              <a:gd name="adj" fmla="val 115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178308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ライン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Line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14600" y="1783080"/>
            <a:ext cx="1325880" cy="475488"/>
          </a:xfrm>
          <a:prstGeom prst="roundRect">
            <a:avLst>
              <a:gd name="adj" fmla="val 115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514600" y="178308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設備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Equipment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80560" y="1783080"/>
            <a:ext cx="1325880" cy="475488"/>
          </a:xfrm>
          <a:prstGeom prst="roundRect">
            <a:avLst>
              <a:gd name="adj" fmla="val 115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80560" y="178308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型式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Model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46520" y="1783080"/>
            <a:ext cx="1325880" cy="475488"/>
          </a:xfrm>
          <a:prstGeom prst="roundRect">
            <a:avLst>
              <a:gd name="adj" fmla="val 115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46520" y="178308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部位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Component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514600" y="3246120"/>
            <a:ext cx="1325880" cy="475488"/>
          </a:xfrm>
          <a:prstGeom prst="roundRect">
            <a:avLst>
              <a:gd name="adj" fmla="val 115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514600" y="324612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症状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Symptom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480560" y="3246120"/>
            <a:ext cx="1325880" cy="475488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480560" y="324612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故障モード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bg1"/>
                </a:solidFill>
              </a:rPr>
              <a:t>FailureMode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46520" y="3246120"/>
            <a:ext cx="1325880" cy="475488"/>
          </a:xfrm>
          <a:prstGeom prst="roundRect">
            <a:avLst>
              <a:gd name="adj" fmla="val 115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46520" y="324612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購入部品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Part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4709160"/>
            <a:ext cx="1325880" cy="475488"/>
          </a:xfrm>
          <a:prstGeom prst="roundRect">
            <a:avLst>
              <a:gd name="adj" fmla="val 115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470916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技術者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Technician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514600" y="4709160"/>
            <a:ext cx="1325880" cy="475488"/>
          </a:xfrm>
          <a:prstGeom prst="roundRect">
            <a:avLst>
              <a:gd name="adj" fmla="val 115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514600" y="470916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作業報告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WorkOrder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480560" y="4709160"/>
            <a:ext cx="1325880" cy="475488"/>
          </a:xfrm>
          <a:prstGeom prst="roundRect">
            <a:avLst>
              <a:gd name="adj" fmla="val 115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480560" y="470916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対処手順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Procedure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46520" y="4709160"/>
            <a:ext cx="1325880" cy="475488"/>
          </a:xfrm>
          <a:prstGeom prst="roundRect">
            <a:avLst>
              <a:gd name="adj" fmla="val 115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46520" y="470916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サプライヤー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Supplier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46520" y="5715000"/>
            <a:ext cx="1325880" cy="475488"/>
          </a:xfrm>
          <a:prstGeom prst="roundRect">
            <a:avLst>
              <a:gd name="adj" fmla="val 115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46520" y="57150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手順書の段落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Chunk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321040" y="173736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故障モードがハブ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8321040" y="2057400"/>
            <a:ext cx="3364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症状から故障モードへ入り、部位・型式を経由して同型機へ横断し、作業報告と手順で過去の対応に降り、部品からサプライヤーへ辿る。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8321040" y="283464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作業報告が5つを結ぶ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8321040" y="3154680"/>
            <a:ext cx="3364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作業報告1件が設備・症状・故障モード・手順・技術者を同時に結ぶ。過去事例を起点にどの方向にも辿れる。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321040" y="393192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手順書は段落単位でリンク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8321040" y="4251960"/>
            <a:ext cx="3364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マニュアルの段落は言及する部位・故障モードにつながる。意味検索の入口であり、回答の出典になる。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8321040" y="502920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名前は英語、値は日本語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8321040" y="5349240"/>
            <a:ext cx="3364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種類と関係の名前は英語で固定し、設備名や故障モード名は現場の日本語のまま。AIの問い合わせを安定させる。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2. 提案するアプローチ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分類体系（タクソノミー）は現場の既存の分け方を5つの軸としてそのまま使う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18311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206240"/>
                <a:gridCol w="2011680"/>
                <a:gridCol w="341071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分類の軸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階層・値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元になる台帳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AIが使う場面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場所の階層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工場 → ライン（3） → 設備個体（12）。設備IDの頭文字が種類を表す（P: ポンプ、CV: コンベア …）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設備台帳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「3号ラインの冷却ポンプ」から起点の設備を特定する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設備の種類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カテゴリ（5） → 型式（5） → 設備個体。同型機は部品構成と故障モードを共有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設備台帳・メーカー仕様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型式を経由して別ラインの同型機へ横断する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故障モードの分類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9カテゴリ（ベアリング、潤滑、芯ずれ、シール、詰まり、電気、摩耗、センサ、不釣合い）× 重大度3段階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FMEA・故障辞書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「ベアリング起因の停止」を1語で絞って集計する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資格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回転機械整備、電気工事士、プレス機械作業主任者、資格不要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作業標準書・技能台帳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手順の必要資格と技術者の保有資格を突き合わせる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症状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振動増大、異音、軸受温度上昇、漏れ、過電流 … 15種。故障モードとは重み付きで多対多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作業報告の記述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症状から故障モード候補を重み順に挙げる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576072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ポイント：分類は新たに設計するものではなく、設備台帳・FMEA・技能台帳にすでにある分け方を属性として持たせるだけで、AIの問いが「1語で絞れる」ようになる。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CE4FE"/>
                </a:solidFill>
              </a:rPr>
              <a:t>3  </a:t>
            </a:r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デモ：架空のA工場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8404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4FE"/>
                </a:solidFill>
              </a:rPr>
              <a:t>合成データで、横断・集計・出典提示が再現できることを確かめた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3. デモ：架空のA工場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架空のA工場（3ライン12設備）に、同型ポンプの横断と故障の偏りを意図的に埋め込んだ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69494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463040"/>
                <a:gridCol w="4297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ライン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工程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設備（型式）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第1ライン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プレス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PR-101・PR-102 プレス機（PM-800）、P-101 冷却ポンプ（CP-200）、CV-101 搬出コンベア（BC-50）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第2ライン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搬送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CV-201・CV-202・CV-203 コンベア（BC-50）、P-201 冷却ポンプ（CP-200）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第3ライン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冷却ユーティリティ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P-301・P-302 冷却ポンプ（CP-200）、CT-301 冷却塔（CT-10）、AC-301 エアコンプレッサ（AC-75）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43434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意図的に埋め込んだ「気づき」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470916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同型の冷却ポンプ CP-200 を全ラインに配置し、主軸ベアリング内輪摩耗が P-301 と P-101 で繰り返し起きている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ベアリング起因の停止時間が P-301 と CV-201 に偏っている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P-301 は再発間隔が短くなり、作業報告に「据付ベースの沈下を疑うべき」という現場コメントがある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1645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12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2468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設備・5型式・40部位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875520" y="1645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25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9875520" y="2468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故障モード・15症状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3108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80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作業報告（直近2年）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875520" y="3108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43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9875520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手順書の段落（5冊）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5720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約300 / 900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7955280" y="53949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グラフ上のノード数 / 関係数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3. デモ：架空のA工場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シナリオは夜勤帯のポンプ異常。4つの質問で診断から次の行動、全体の傾向までを辿る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0020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設定：第3ラインの冷却ポンプ P-301 で振動が上がった。夜勤帯でベテランは不在。担当者がAIアシスタントに順に尋ねる。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2555748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2194560"/>
            <a:ext cx="25557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Q1 診断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2555748" cy="3108960"/>
          </a:xfrm>
          <a:prstGeom prst="roundRect">
            <a:avLst>
              <a:gd name="adj" fmla="val 286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880360"/>
            <a:ext cx="21899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質問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P-301 で振動が上がっている。考えられる原因と過去の対処は？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343400"/>
            <a:ext cx="21899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見せ場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症状から故障モードを件数順に絞り、手順書の該当ページで裏付ける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86100" y="2468880"/>
            <a:ext cx="265176" cy="0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78708" y="2194560"/>
            <a:ext cx="2555748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78708" y="2194560"/>
            <a:ext cx="25557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Q2 横断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78708" y="2743200"/>
            <a:ext cx="2555748" cy="3108960"/>
          </a:xfrm>
          <a:prstGeom prst="roundRect">
            <a:avLst>
              <a:gd name="adj" fmla="val 286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61588" y="2880360"/>
            <a:ext cx="21899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質問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同じ型式のポンプで同じ症状が出た事例は他ラインにもある？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61588" y="4343400"/>
            <a:ext cx="21899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見せ場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型式を経由して別ラインの同型機の作業報告に横断する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61888" y="2468880"/>
            <a:ext cx="265176" cy="0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54496" y="2194560"/>
            <a:ext cx="2555748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54496" y="2194560"/>
            <a:ext cx="25557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Q3 行動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54496" y="2743200"/>
            <a:ext cx="2555748" cy="3108960"/>
          </a:xfrm>
          <a:prstGeom prst="roundRect">
            <a:avLst>
              <a:gd name="adj" fmla="val 286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37376" y="2880360"/>
            <a:ext cx="21899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質問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その対処に必要な部品の在庫と納期、対応できる技術者は？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37376" y="4343400"/>
            <a:ext cx="21899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見せ場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手順→部品→サプライヤー、資格→技術者と一気通貫で出す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837676" y="2468880"/>
            <a:ext cx="265176" cy="0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30284" y="2194560"/>
            <a:ext cx="2555748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30284" y="2194560"/>
            <a:ext cx="25557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Q4 傾向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130284" y="2743200"/>
            <a:ext cx="2555748" cy="3108960"/>
          </a:xfrm>
          <a:prstGeom prst="roundRect">
            <a:avLst>
              <a:gd name="adj" fmla="val 286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313164" y="2880360"/>
            <a:ext cx="21899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質問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直近1年でベアリング起因の停止が多い設備はどこ？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313164" y="4343400"/>
            <a:ext cx="21899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見せ場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故障モードのカテゴリと日付で作業報告を集計する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598932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各回答のあと、グラフ可視化ツールで同じパスを表示し、「根拠がグラフ上にある」ことを並べて見せる。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3. デモ：架空のA工場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質問1：症状から故障モードを過去事例の件数順に絞り、マニュアルの該当ページで裏付ける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002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AIの回答（要旨）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92024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結論：P-301 の振動増大は主軸ベアリング内輪摩耗の可能性が最も高い。ただし約半年周期で再発しており、直近の報告で据付ベースの傾きが確認されているため、交換に加えて芯出し・据付状態の確認が必要。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880360"/>
          <a:ext cx="69494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822960"/>
                <a:gridCol w="1005840"/>
                <a:gridCol w="2286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原因候補（確度順）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分類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症状の重み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P-301 過去事例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対処手順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主軸ベアリング内輪摩耗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ベアリング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0.9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6件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PR-001 主軸ベアリング交換（240分・要資格）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インペラ不釣合い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不釣合い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0.7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2件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PR-003 インペラ清掃・バランス確認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カップリング芯ずれ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芯ずれ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0.6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2件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PR-004 芯出し調整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軸受グリース劣化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潤滑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0.4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2件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PR-002 グリース補給（資格不要）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02920" y="49834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手順書の判定基準（出典 CH-cp-200-002、p.1）：振動 4.5mm/s 以下が良、7.1mm/s 超で要注意。高周波の転走音ならベアリング、回転同期成分が卓越なら不釣合い・芯ずれ。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818120" y="1600200"/>
            <a:ext cx="3867912" cy="4526280"/>
          </a:xfrm>
          <a:prstGeom prst="roundRect">
            <a:avLst>
              <a:gd name="adj" fmla="val 18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0" y="173736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回答末尾の「根拠」節（固定形式）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2148840"/>
            <a:ext cx="341071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作業報告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WO-2026-020, WO-2026-015, WO-2026-002, WO-2025-028, WO-2025-015, WO-2024-006（ベアリング）ほか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手順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PR-001, PR-004, PR-003, PR-002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手順書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CH-cp-200-002（CP-200 保全マニュアル 第3版, p.1）、CH-cp-200-006（同, p.1）、CH-cp-200-007（同, p.1）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パス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P-301 → CP-200 → 主軸ベアリング → 主軸ベアリング内輪摩耗 → WO-2026-020 → PR-001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3. デモ：架空のA工場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質問2：型式ノードを経由することで、別ラインの同型機の事例に横断できる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0"/>
            <a:ext cx="1737360" cy="82296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rgbClr val="2F5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3017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P-301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第3ライン・6件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0" y="3429000"/>
            <a:ext cx="731520" cy="0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063240" y="3017520"/>
            <a:ext cx="1737360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rgbClr val="2F5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63240" y="3017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型式 CP-200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渦巻型冷却水ポンプ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 flipV="1">
            <a:off x="4846320" y="2011680"/>
            <a:ext cx="868680" cy="1417320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760720" y="1600200"/>
            <a:ext cx="1737360" cy="82296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 w="12700">
            <a:solidFill>
              <a:srgbClr val="3C404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0" y="16002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P-101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第1ライン・4件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3429000"/>
            <a:ext cx="868680" cy="0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760720" y="3017520"/>
            <a:ext cx="1737360" cy="82296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 w="12700">
            <a:solidFill>
              <a:srgbClr val="3C404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0" y="3017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P-201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第2ライン・1件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3429000"/>
            <a:ext cx="868680" cy="1417320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760720" y="4434840"/>
            <a:ext cx="1737360" cy="82296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 w="12700">
            <a:solidFill>
              <a:srgbClr val="3C404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60720" y="4434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P-302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第3ライン・記録なし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OF_MODEL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2606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OF_MODEL（逆向き）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1600200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AIの回答（要旨）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1920240"/>
            <a:ext cx="3547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あります。同型 CP-200 の冷却ポンプでは、第1ラインの P-101 で4件、第2ラインの P-201 で1件、主軸ベアリング内輪摩耗の作業報告があります。予備機 P-302 は記録なしです。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3429000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なぜ文書検索では出ないか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3749040"/>
            <a:ext cx="3547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P-101 の作業報告には「P-301」という語が一切ない。文章の類似で探す限り届かず、「同じ型式」という関係を辿って初めて見つかる。これが構造を持つことの価値。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5212080"/>
            <a:ext cx="3547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根拠：WO-2024-007, WO-2025-021, WO-2026-008, WO-2026-025（P-101）／ WO-2025-032（P-201）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5577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回答に添えられたパス：P-301 → CP-200 ← P-101（第1ライン） → WO-2026-025 → 主軸ベアリング内輪摩耗 → PR-001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3. デモ：架空のA工場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質問3：対処手順から必要部品の在庫・納期と、有資格で実績のある技術者まで一気通貫で出る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0020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手順 PR-001 冷却ポンプ主軸ベアリング交換（標準240分、要資格「回転機械整備」）に必要な部品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1118311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822960"/>
                <a:gridCol w="731520"/>
                <a:gridCol w="822960"/>
                <a:gridCol w="2103120"/>
                <a:gridCol w="30449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部品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品番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必要数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在庫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納期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サプライヤー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判定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深溝玉軸受 6306ZZ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6306ZZ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3日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東和ベアリング商会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在庫あり（残り1回分）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軸受グリース EP2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GR-EP2-400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2日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東和ベアリング商会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在庫あり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メカニカルシール CP-200用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MS-200-A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14日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北陽ポンプ工業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在庫あり（納期長・要発注）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365760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資格「回転機械整備」を持つ技術者と PR-001 の実施実績</a:t>
            </a:r>
            <a:endParaRPr lang="en-US" sz="12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023360"/>
          <a:ext cx="1118311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2743200"/>
                <a:gridCol w="822960"/>
                <a:gridCol w="1737360"/>
                <a:gridCol w="341071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技術者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所属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保有資格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経験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PR-001 実績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備考（技能台帳より）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佐伯 恒夫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第1ライン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プレス機械作業主任者、回転機械整備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28年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5件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ベテラン。2026年度末で定年予定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真壁 美咲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第3ライン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回転機械整備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12年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3件（すべて P-301）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ポンプ・冷却塔の回転機械担当。第一候補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大槌 健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第3ライン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回転機械整備、電気工事士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17年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2件（すべて P-301）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P-301 の履歴を最も知る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乾 修一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第2ライン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回転機械整備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21年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1件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コンベア系主担当。夜勤帯の対応が多い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580644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AIは資格の照合（手順の必要資格 ∈ 技術者の保有資格）と実績の集計をグラフ上で行い、「第3ラインの真壁・大槌が第一候補」と結論づけた。部品番号・在庫数・納期はすべてグラフの値で、推測は含まれない。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3. デモ：架空のA工場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質問4：故障モードのカテゴリで集計し、ベアリング起因の停止がP-301に偏ることを示す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600200"/>
          <a:ext cx="72237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092440" y="160020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AIの回答（要旨）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1920240"/>
            <a:ext cx="35935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最も多いのは P-301（3件・935分）。次いで P-101 と CV-201 が各2件。同型 CP-200 の3台で全11件の半数以上を占め、P-301 は約3か月間隔で再発している。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329184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集計の中身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3611880"/>
            <a:ext cx="3593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故障モードの属性 category = bearing で絞る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作業報告の日付が1年以内のものを数える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設備ごとに件数と停止時間を合計する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1本の問い合わせ、実行時間 0.05 秒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530352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根拠：11件の作業報告IDを列挙（WO-2026-002, WO-2026-015, WO-2026-020 … ）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3. デモ：架空のA工場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横断検索は、台帳を別々に見ていては気づけない3つの事実を引き出す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483864" cy="4023360"/>
          </a:xfrm>
          <a:prstGeom prst="roundRect">
            <a:avLst>
              <a:gd name="adj" fmla="val 21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201533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5176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共用部品の在庫リスク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154680"/>
            <a:ext cx="2935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軸受 6306ZZ はポンプ4台（主軸ベアリング）とコンベア4台（テールプーリーベアリング）の計8台で共用。在庫4個は1回の交換で2個使うため2回分しかない。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502920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部品 ← 部位 ← 型式 ← 設備 と逆向きに辿る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52544" y="1645920"/>
            <a:ext cx="3483864" cy="4023360"/>
          </a:xfrm>
          <a:prstGeom prst="roundRect">
            <a:avLst>
              <a:gd name="adj" fmla="val 21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1874520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682" y="2015338"/>
            <a:ext cx="358445" cy="35844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26864" y="265176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技能伝承の空白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4626864" y="3154680"/>
            <a:ext cx="2935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佐伯氏が実施したプレス系3手順（計8件）は、必要資格「プレス機械作業主任者」を持つ人が他におらず後継なし。ポンプ系は3名が引き継げる。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626864" y="502920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技術者 ← 作業報告 → 手順 → 必要資格 → 他の技術者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202168" y="1645920"/>
            <a:ext cx="3483864" cy="4023360"/>
          </a:xfrm>
          <a:prstGeom prst="roundRect">
            <a:avLst>
              <a:gd name="adj" fmla="val 21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76488" y="1874520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7306" y="2015338"/>
            <a:ext cx="358445" cy="35844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76488" y="265176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在庫ゼロ部品の長期停止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8476488" y="3154680"/>
            <a:ext cx="2935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在庫ゼロの部品を必要とする手順は2つ。モーター交換（納期21日）が2回、エアエンド交換（納期60日）が1回実施され、後者は工場全体のエア供給に影響した。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476488" y="502920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部品{在庫0} ← 手順 ← 作業報告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502920" y="585216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いずれも「どの設備が」「誰が」「いつ」を結ぶ関係が1か所にあるから答えられる。文書検索や個別の台帳検索では問い自体を立てにくい。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3. デモ：架空のA工場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幻覚を防ぐ設計：グラフにないことは「記録なし」と答え、AIからの書き込みはできない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483864" cy="3383280"/>
          </a:xfrm>
          <a:prstGeom prst="roundRect">
            <a:avLst>
              <a:gd name="adj" fmla="val 216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9952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901952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根拠の固定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514600"/>
            <a:ext cx="30266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回答形式を固定し、末尾に作業報告ID・手順ID・段落ID・パスを必ず列挙する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根拠のない回答はデモの評価で不合格扱いにする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部品番号・在庫・納期・人名はグラフの値以外から作らない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52544" y="1645920"/>
            <a:ext cx="3483864" cy="3383280"/>
          </a:xfrm>
          <a:prstGeom prst="roundRect">
            <a:avLst>
              <a:gd name="adj" fmla="val 216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81144" y="187452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845" y="19952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66944" y="1901952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「記録なし」の明示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81144" y="2514600"/>
            <a:ext cx="30266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P-302 でベアリング起因の故障はあった？ → 記録なし（実際に0件）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P-401 の状態は？ → 該当設備の記録なし（存在しないID）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推測で作業報告番号を作らないことを、デモの中で見せる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02168" y="1645920"/>
            <a:ext cx="3483864" cy="3383280"/>
          </a:xfrm>
          <a:prstGeom prst="roundRect">
            <a:avLst>
              <a:gd name="adj" fmla="val 216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30768" y="187452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469" y="199522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16568" y="1901952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読み取り専用の接続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430768" y="2514600"/>
            <a:ext cx="30266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AIに公開するのはスキーマ取得・読み取りクエリ・手順書検索の3ツールのみ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書き込み文は接続層が実行前に拒否する（検証済み）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将来の自動登録は人の承認を挟む設計にする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502920" y="530352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説明可能性はデモの価値そのもの。「正しいことを言う」より「言ったことを人が検証できる」設計を優先している。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3. デモ：架空のA工場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回答が辿ったパスはグラフ可視化ツール上で同じ形に表示でき、人が検証できる</a:t>
            </a:r>
            <a:endParaRPr lang="en-US" sz="2000" dirty="0"/>
          </a:p>
        </p:txBody>
      </p:sp>
      <p:pic>
        <p:nvPicPr>
          <p:cNvPr id="4" name="Image 0" descr="/Users/kuro/Desktop/dev/m-kg-maintenance/.playwright-mcp/neo4j_browser_p3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45920"/>
            <a:ext cx="7223760" cy="4114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58064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Neo4j Browser：P-301 周辺（設備1、型式1、部位7、故障モード7、作業報告16、関係32）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169164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回答と根拠を並べて見せる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057400"/>
            <a:ext cx="3593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左にAIの回答、右にグラフの可視化。回答に出た作業報告IDを可視化クエリに入れると、同じパスが光る。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306324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「自分の現場の構造だ」と分かる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3429000"/>
            <a:ext cx="3593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型式→部位→故障モードの放射状の形は、どの工場でも設備台帳とBOMから同じ形になる。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443484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グラフは説明用、AIは実務用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4800600"/>
            <a:ext cx="3593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可視化は検証と説明のためで、日常の利用はチャットだけで完結する。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3. デモ：架空のA工場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実測：代表質問4本すべてに正しい根拠付きで回答し、応答時間はAIモデルの選択で20〜55秒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45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 / 4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468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代表質問の正答数（期待する故障モード・設備・根拠IDと一致）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1645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0.17 秒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2468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グラフ問い合わせの最長実行時間（約300ノードで索引あり）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172200" y="1645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0.4 秒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2468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手順書の意味検索（ローカルモデル、起動時に先読み）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006840" y="1645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6 / 6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9006840" y="2468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本日の実行回数と正答数（正式リハーサルは5回を予定）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429000"/>
          <a:ext cx="1118311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463040"/>
                <a:gridCol w="1463040"/>
                <a:gridCol w="53309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条件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質問1（診断）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質問4（集計）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回答の特徴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初版プロンプト・高精度モデル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63秒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62秒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正答。根拠は網羅的だが冗長で、聞かれていない提案まで書く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簡潔化プロンプト・高精度モデル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55秒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25秒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正答。400〜700字に収まり、形式の遵守が良い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簡潔化プロンプト・高速モデル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21秒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正答。形式がやや緩く、技術者の照会を省略した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02920" y="521208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応答時間の内訳は「手順書検索 → グラフ問い合わせ2〜3回 → 回答生成」というAIの往復回数で決まり、データベース側はほぼ時間を使っていない。目標は当初10秒としていたが、構造上30秒前後が現実的で、精度と速度のどちらを優先するかはデモの性質で選ぶ。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CE4FE"/>
                </a:solidFill>
              </a:rPr>
              <a:t>4  </a:t>
            </a:r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御社で構築するには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8404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4FE"/>
                </a:solidFill>
              </a:rPr>
              <a:t>既存データをそのまま元にして、4週間で動くものを作る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4. 御社で構築するには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御社の既存データがそのままグラフの元になり、新たなデータ整備は最小限で済む</a:t>
            </a:r>
            <a:endParaRPr lang="en-US" sz="2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18311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103120"/>
                <a:gridCol w="3291840"/>
                <a:gridCol w="2679192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御社での所在（想定）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グラフ上の種類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最低限必要な項目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整備のポイント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設備台帳（設備管理システム・Excel）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ライン・設備・型式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設備ID、設備名、型式、ライン、設置年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型式の表記を統一する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部品構成表・購買／資材システム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部位・購入部品・サプライヤー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型式、部位名、部品番号、在庫、納期、仕入先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部位と購入部品を分けて持つ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故障辞書・FMEA、または作業報告の原因欄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故障モード・症状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故障モード名、対象部位、分類、重大度、典型症状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表記ゆれをLLMで正規化し辞書化する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作業標準書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対処手順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手順名、所要時間、必要部品、必要資格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手順と故障モードを対応づける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技能台帳・人事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技術者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氏名、所属、保有資格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資格名を手順側と揃える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保全管理システム（CMMS）・日報・紙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作業報告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日付、設備、症状、原因、対処、担当、停止時間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紙はOCR＋LLMで項目抽出する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マニュアル PDF・Word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手順書の段落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本文（章・節）、ページ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段落に分け、部位・故障モードへ紐づける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548640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設備台帳と作業報告の2つがあれば初版は作れる。マニュアルと技能台帳は後から足しても構造は変わらない。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4. 御社で構築するには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構築は4週間。週ごとに動くものを積み上げ、現場担当者の評価で締める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2590038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45920"/>
            <a:ext cx="25900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第1週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2590038" cy="3566160"/>
          </a:xfrm>
          <a:prstGeom prst="roundRect">
            <a:avLst>
              <a:gd name="adj" fmla="val 282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286000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データ棚卸しとモデル調整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222427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台帳・BOM・作業報告・マニュアルの所在と形式を確認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グラフモデルを御社向けに調整（分類の軸を決める）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設備・部品・技術者を投入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937760"/>
            <a:ext cx="22242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成果物：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御社向けモデル定義、設備グラフ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67278" y="1645920"/>
            <a:ext cx="2590038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67278" y="1645920"/>
            <a:ext cx="25900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第2週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67278" y="2148840"/>
            <a:ext cx="2590038" cy="3566160"/>
          </a:xfrm>
          <a:prstGeom prst="roundRect">
            <a:avLst>
              <a:gd name="adj" fmla="val 282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50158" y="2286000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作業報告の変換と投入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50158" y="2788920"/>
            <a:ext cx="222427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原因欄の表記ゆれを正規化し故障モード辞書を作成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作業報告を設備・症状・故障モード・手順・担当者に結ぶ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紙・Excelは項目抽出スクリプトで変換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50158" y="4937760"/>
            <a:ext cx="22242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成果物：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故障モード辞書、作業報告グラフ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31636" y="1645920"/>
            <a:ext cx="2590038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1636" y="1645920"/>
            <a:ext cx="25900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第3週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31636" y="2148840"/>
            <a:ext cx="2590038" cy="3566160"/>
          </a:xfrm>
          <a:prstGeom prst="roundRect">
            <a:avLst>
              <a:gd name="adj" fmla="val 282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14516" y="2286000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マニュアルと代表質問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14516" y="2788920"/>
            <a:ext cx="222427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マニュアルを段落化し埋め込み、部位・故障モードへ紐づけ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現場と一緒に代表質問5〜10本と正解パスを定義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読み取り専用の接続を設定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14516" y="4937760"/>
            <a:ext cx="22242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成果物：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手順書検索、質問テンプレート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95994" y="1645920"/>
            <a:ext cx="2590038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95994" y="1645920"/>
            <a:ext cx="25900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第4週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095994" y="2148840"/>
            <a:ext cx="2590038" cy="3566160"/>
          </a:xfrm>
          <a:prstGeom prst="roundRect">
            <a:avLst>
              <a:gd name="adj" fmla="val 282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78874" y="2286000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評価と可視化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278874" y="2788920"/>
            <a:ext cx="222427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AIを接続し回答形式と根拠の出し方を調整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現場担当者が代表質問で評価（5回中4回以上一致）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根拠パスの可視化クエリを用意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278874" y="4937760"/>
            <a:ext cx="22242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成果物：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評価結果、デモ環境、次フェーズ提案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589788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体制の目安：御社側は保全担当1名（週2〜3時間の質問・評価）とデータ提供窓口1名。AIdeaLab側はデータ設計1名、AI調整1名。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4. 御社で構築するには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構成はオンプレでも成立し、AIは読み取り専用でグラフに触れる。コストはAI利用料が中心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483864" cy="3474720"/>
          </a:xfrm>
          <a:prstGeom prst="roundRect">
            <a:avLst>
              <a:gd name="adj" fmla="val 210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9952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901952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データとグラフDB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514600"/>
            <a:ext cx="302666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グラフDBは社内サーバーのコンテナでも、クラウドでも動く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デモ規模（約300ノード）は無償版で十分。数十万ノードまで同じ構成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元データは社内に留まり、AIには問い合わせ結果だけが渡る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52544" y="1645920"/>
            <a:ext cx="3483864" cy="3474720"/>
          </a:xfrm>
          <a:prstGeom prst="roundRect">
            <a:avLst>
              <a:gd name="adj" fmla="val 210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81144" y="187452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845" y="19952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66944" y="1901952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検索と埋め込み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81144" y="2514600"/>
            <a:ext cx="302666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手順書の意味検索はローカルの埋め込みモデル。外部APIキー不要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会場やオンプレのネットワークでも動作（オフライン起動を確認済み）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全文検索を併用し、型番など固有名も引ける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02168" y="1645920"/>
            <a:ext cx="3483864" cy="3474720"/>
          </a:xfrm>
          <a:prstGeom prst="roundRect">
            <a:avLst>
              <a:gd name="adj" fmla="val 210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30768" y="187452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469" y="199522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16568" y="1901952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AIと権限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430768" y="2514600"/>
            <a:ext cx="302666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AIはClaude（API）。オンプレLLMへの置き換えも構成上は可能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接続層を読み取り専用にし、書き込み文は実行前に拒否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費用はAI利用料が中心で、質問1本あたり数十円〜百円程度（モデルによる）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502920" y="539496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本番導入時に追加で検討する項目：SSO・監査ログ、個人名の扱い（技術者の表示範囲）、マニュアルの著作権と社外秘の範囲。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4. 御社で構築するには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次フェーズでは、センサー時系列の接続、作業報告の自動下書き、根拠パスのクリック表示へ拡張する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483864" cy="4023360"/>
          </a:xfrm>
          <a:prstGeom prst="roundRect">
            <a:avLst>
              <a:gd name="adj" fmla="val 21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201533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5176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センサー時系列の接続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154680"/>
            <a:ext cx="2935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設備ノードに振動・温度のトレンドをつなぎ、「振動が上がり始めた設備」を起点に故障モードと手順を先回りで提案する。予知保全への入口。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502920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変更箇所：設備にセンサー・計測値のノードを追加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52544" y="1645920"/>
            <a:ext cx="3483864" cy="4023360"/>
          </a:xfrm>
          <a:prstGeom prst="roundRect">
            <a:avLst>
              <a:gd name="adj" fmla="val 21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1874520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682" y="2015338"/>
            <a:ext cx="358445" cy="35844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26864" y="265176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作業報告の自動下書き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4626864" y="3154680"/>
            <a:ext cx="2935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対応後の会話から作業報告の下書き（設備・症状・故障モード・手順・担当・停止時間）を生成し、人が承認して登録する。入力負荷を下げ、グラフが育ち続ける。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626864" y="502920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変更箇所：承認付きの書き込みツールを追加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202168" y="1645920"/>
            <a:ext cx="3483864" cy="4023360"/>
          </a:xfrm>
          <a:prstGeom prst="roundRect">
            <a:avLst>
              <a:gd name="adj" fmla="val 21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76488" y="1874520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7306" y="2015338"/>
            <a:ext cx="358445" cy="35844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76488" y="265176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根拠パスのクリック表示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8476488" y="3154680"/>
            <a:ext cx="2935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回答中の作業報告IDや手順IDをクリックすると、その根拠パスを画面上に描く。専用の可視化画面を持つチャットUIとして提供する。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476488" y="502920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変更箇所：Web画面（チャット＋グラフ描画）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502920" y="585216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いずれも今回のグラフモデルを変えずに足せる拡張。順番は御社の課題感（予知／入力負荷／説明責任）で決める。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CE4FE"/>
                </a:solidFill>
              </a:rPr>
              <a:t>5  </a:t>
            </a:r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ディスカッション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8404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4FE"/>
                </a:solidFill>
              </a:rPr>
              <a:t>本日ご相談したい論点と、進め方の提案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5. ディスカッション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本日ご相談したい4つの論点：対象、データ、評価、体制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408676" cy="2011680"/>
          </a:xfrm>
          <a:prstGeom prst="roundRect">
            <a:avLst>
              <a:gd name="adj" fmla="val 363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594360" cy="5943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20052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74520"/>
            <a:ext cx="42199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対象：どのライン・設備から始めるか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560320"/>
            <a:ext cx="49514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故障が繰り返す設備、同型機が複数ラインにある設備、ベテラン依存が強い工程など、効果が見えやすい範囲を1つ選びたい。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77356" y="1645920"/>
            <a:ext cx="5408676" cy="2011680"/>
          </a:xfrm>
          <a:prstGeom prst="roundRect">
            <a:avLst>
              <a:gd name="adj" fmla="val 363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05956" y="1874520"/>
            <a:ext cx="594360" cy="5943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715" y="20052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37476" y="1874520"/>
            <a:ext cx="42199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データ：台帳・作業報告・マニュアルの所在と形式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6505956" y="2560320"/>
            <a:ext cx="49514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設備管理システムの有無、作業報告が CMMS か Excel か紙か、マニュアルが PDF で揃っているか。初版は台帳と作業報告の2つで作れる。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886200"/>
            <a:ext cx="5408676" cy="2011680"/>
          </a:xfrm>
          <a:prstGeom prst="roundRect">
            <a:avLst>
              <a:gd name="adj" fmla="val 363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4114800"/>
            <a:ext cx="594360" cy="5943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424555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4114800"/>
            <a:ext cx="42199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評価：代表質問と正解をどう定義するか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4800600"/>
            <a:ext cx="49514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現場が実際に困っている問いを5〜10本挙げ、「正しい答え」と「根拠として示すべき記録」を事前に決める。これが合否の基準になる。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77356" y="3886200"/>
            <a:ext cx="5408676" cy="2011680"/>
          </a:xfrm>
          <a:prstGeom prst="roundRect">
            <a:avLst>
              <a:gd name="adj" fmla="val 363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05956" y="4114800"/>
            <a:ext cx="594360" cy="5943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715" y="424555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37476" y="4114800"/>
            <a:ext cx="42199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体制：現場・保全・DX の役割分担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6505956" y="4800600"/>
            <a:ext cx="49514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保全担当者が質問と評価を担い、DX部門がデータ提供と環境を担う分担が進めやすい。週2〜3時間の関与で足りる。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5. ディスカッション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進め方の提案：4週間のPoCで御社データの代表質問に答え、その結果で展開範囲を決める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422904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45920"/>
            <a:ext cx="3422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PoC（4週間）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998976" y="1920240"/>
            <a:ext cx="310896" cy="0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02920" y="2194560"/>
            <a:ext cx="3422904" cy="3291840"/>
          </a:xfrm>
          <a:prstGeom prst="roundRect">
            <a:avLst>
              <a:gd name="adj" fmla="val 222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331720"/>
            <a:ext cx="3057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御社データで1ライン分のグラフを構築し、代表質問5〜10本に根拠付きで答える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38328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対象ライン・設備の選定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データ受領と変換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現場担当者による評価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754880"/>
            <a:ext cx="3057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成果物：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評価結果と費用対効果の見積り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3024" y="1645920"/>
            <a:ext cx="3422904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3024" y="1645920"/>
            <a:ext cx="3422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判断（1〜2週間）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79080" y="1920240"/>
            <a:ext cx="310896" cy="0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83024" y="2194560"/>
            <a:ext cx="3422904" cy="3291840"/>
          </a:xfrm>
          <a:prstGeom prst="roundRect">
            <a:avLst>
              <a:gd name="adj" fmla="val 222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65904" y="2331720"/>
            <a:ext cx="3057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評価結果をもとに、展開する範囲と優先する拡張（予知／自動下書き／UI）を決める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65904" y="338328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正答率と応答時間の確認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現場の受け止めのヒアリング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展開計画の合意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65904" y="4754880"/>
            <a:ext cx="3057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成果物：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展開計画と体制案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63128" y="1645920"/>
            <a:ext cx="3422904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63128" y="1645920"/>
            <a:ext cx="3422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展開（3か月〜）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63128" y="2194560"/>
            <a:ext cx="3422904" cy="3291840"/>
          </a:xfrm>
          <a:prstGeom prst="roundRect">
            <a:avLst>
              <a:gd name="adj" fmla="val 222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46008" y="2331720"/>
            <a:ext cx="3057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ライン横展開と業務への組み込み。チャットUIと根拠パス表示を整え、運用に乗せる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446008" y="338328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全ライン・全型式への拡張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作業報告の自動下書き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運用体制と教育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446008" y="4754880"/>
            <a:ext cx="3057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成果物：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本番環境と運用手順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5669280"/>
            <a:ext cx="11183112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66928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次のアクション　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対象ラインの候補と、設備台帳・作業報告のサンプル（数十件で可）を共有いただければ、2週間以内にPoC計画書を提示します。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付録　バックエンドの選択肢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多段の関係と根拠パスの可視化は Neo4j が得意、既存レイクハウスとセンサー時系列の活用は Databricks が得意。併用も現実的</a:t>
            </a:r>
            <a:endParaRPr lang="en-US" sz="2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8311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718304"/>
                <a:gridCol w="4727448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観点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Neo4j をバックエンドにする場合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Databricks をバックエンドにする場合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データの持ち方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ノードと関係をそのまま格納するグラフDB。設備→部位→故障モード→作業報告の「つながり」が第一級のデータ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Delta Lake の表（ノード表・エッジ表）として格納。既存の台帳・作業報告・センサーと同じ場所に置ける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多段の関係の問い合わせ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Cypher で 3〜5 ホップを 1 文で書け、約300ノードで 0.2 秒以下。横断（型式経由）や経路の取得が自然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SQL の結合や再帰 CTE、GraphFrames で表現。ホップが増えると結合が深くなり、経路を返す問いは書きにくい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集計・時系列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件数・停止時間の集計は可能。センサー時系列の大量データは不向きで、別基盤から要約を持ち込む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Spark と SQL ウェアハウスで大規模集計・時系列が本領。センサー劣化データとの結合が容易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手順書の意味検索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ベクトル索引を内蔵。段落ノードを部位・故障モードにリンクし、検索結果から直接グラフを辿れる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Databricks Vector Search を利用。検索結果の段落 ID をキーに表を結合して部位・故障モードへ辿る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根拠パスの可視化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Neo4j Browser が同梱。回答のパスをそのまま図で見せられる（本デモの見せ場）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グラフ描画は標準にない。ノートブックや外部ツールで描くか、表形式で根拠を示す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AI エージェントとの接続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mcp-neo4j-cypher（既製の MCP、読み取り専用モードあり）と自作の手順書検索ツール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マネージド MCP（Unity Catalog 関数・Genie・Vector Search）や Mosaic AI Agent Framework。Claude からも接続可能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権限・ガバナンス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Community 版はロール分離なし（MCP 側で読み取り専用化）。Enterprise で RBAC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Unity Catalog で表・列単位の権限、監査ログ、系譜（リネージ）が標準。本番の統制は作りやすい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運用・コスト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Docker 1 コンテナまたは Aura。デモ規模は無償。運用対象が 1 つ増える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既にレイクハウスがあれば追加基盤なし。計算は DBU 課金で、小規模デモにはやや重い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向いている状況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初回デモ、多段の「なぜ」と根拠パスを現場に見せたい、オンプレ・小規模から始めたい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Databricks が全社基盤として既にある、センサー時系列や予知保全まで扱いたい、統制要件が先に立つ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870448"/>
            <a:ext cx="11183112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870448"/>
            <a:ext cx="10634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併用案　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Databricks を蓄積・集計の基盤（台帳・作業報告・センサーを Delta に集約し正規化）、Neo4j を現場向けの提供層（グラフ問い合わせと根拠パスの可視化）とし日次で同期する。本デモの投入スクリプトは Delta からの読み出しに置き換えるだけで流用できる。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付録　二層アーキテクチャ案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Databricks を正本（System of Record）と加工の層、Neo4j を探索専用の提供層に分け、集計は SQL、探索は Cypher に振り分ける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1329538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572768"/>
            <a:ext cx="1329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設備台帳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42186" y="1572768"/>
            <a:ext cx="1329538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42186" y="1572768"/>
            <a:ext cx="1329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作業報告（CMMS）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1451" y="1572768"/>
            <a:ext cx="1329538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1451" y="1572768"/>
            <a:ext cx="1329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購買・技能台帳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20717" y="1572768"/>
            <a:ext cx="1329538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0717" y="1572768"/>
            <a:ext cx="1329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マニュアル PDF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59982" y="1572768"/>
            <a:ext cx="1329538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59982" y="1572768"/>
            <a:ext cx="1329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センサー（将来）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46220" y="2048256"/>
            <a:ext cx="0" cy="219456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4137660" y="20299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取り込み（Auto Loader / バッチ）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286000"/>
            <a:ext cx="708660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340864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Databricks　</a:t>
            </a:r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System of Record / Data Engineering 層 ― 原データと加工済みデータの正本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2724912"/>
            <a:ext cx="193548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2743200"/>
            <a:ext cx="1752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Bronze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原データをそのまま保持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台帳・作業報告・PDF・センサー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94432" y="3154680"/>
            <a:ext cx="310896" cy="0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078480" y="2724912"/>
            <a:ext cx="193548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169920" y="2743200"/>
            <a:ext cx="1752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Silver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正規化・辞書化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表記ゆれ、故障モード辞書、ID 採番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87112" y="3154680"/>
            <a:ext cx="310896" cy="0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471160" y="2724912"/>
            <a:ext cx="193548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62600" y="2743200"/>
            <a:ext cx="1752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Gold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ノード表・エッジ表・集計マート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手順書段落と埋め込み（Vector Search）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3657600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Unity Catalog：権限・監査・リネージ　｜　SQL / Genie：集計・時系列　｜　Vector Search：症状テキストから手順書段落を探す入口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046220" y="3995928"/>
            <a:ext cx="0" cy="329184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4137660" y="4023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Gold → Neo4j へ片方向の同期（日次、必要なら差分）。逆方向の書き込みはない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" y="4343400"/>
            <a:ext cx="708660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4389120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Neo4j　</a:t>
            </a:r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Knowledge Graph Serving 層 ― 読み取り専用の派生ビュー。マスターにはしない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4754880"/>
            <a:ext cx="1935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グラフ問い合わせ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多段の関係・経路・類似事例の横断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3078480" y="4754880"/>
            <a:ext cx="1935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根拠パスの可視化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Neo4j Browser で回答のパスを表示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71160" y="4754880"/>
            <a:ext cx="1935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再構築可能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Gold からいつでも作り直せる使い捨ての層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909560" y="2286000"/>
            <a:ext cx="3776472" cy="1143000"/>
          </a:xfrm>
          <a:prstGeom prst="roundRect">
            <a:avLst>
              <a:gd name="adj" fmla="val 64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92440" y="2359152"/>
            <a:ext cx="3410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Databricks MCP（マネージド）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Genie / SQL：何件・どれくらい・推移の集計と時系列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Vector Search：症状の自然文から段落 ID と故障モード ID を得る入口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909560" y="3611880"/>
            <a:ext cx="3776472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92440" y="3639312"/>
            <a:ext cx="3410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AIエージェント（Claude）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質問の型で MCP を振り分け、両層に共通の ID（WO- / PR- / CH-）で根拠を返す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909560" y="4480560"/>
            <a:ext cx="3776472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92440" y="4535424"/>
            <a:ext cx="3410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Neo4j MCP（mcp-neo4j-cypher 読み取り専用）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Cypher：なぜ・どうつながる・他にどこで、の探索と多段の経路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書き込みツールは公開しない（本デモで検証済み）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635240" y="2834640"/>
            <a:ext cx="228600" cy="0"/>
          </a:xfrm>
          <a:prstGeom prst="line">
            <a:avLst/>
          </a:prstGeom>
          <a:noFill/>
          <a:ln w="1905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635240" y="4892040"/>
            <a:ext cx="228600" cy="0"/>
          </a:xfrm>
          <a:prstGeom prst="line">
            <a:avLst/>
          </a:prstGeom>
          <a:noFill/>
          <a:ln w="1905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797796" y="3447288"/>
            <a:ext cx="0" cy="146304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9797796" y="4315968"/>
            <a:ext cx="0" cy="146304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02920" y="5559552"/>
            <a:ext cx="2658618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12648" y="5577840"/>
            <a:ext cx="24391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① 正本は Databricks だけ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Bronze→Silver→Gold で原データと加工済みデータを保持し、権限・監査・リネージもここで担う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344418" y="5559552"/>
            <a:ext cx="2658618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454146" y="5577840"/>
            <a:ext cx="24391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② Neo4j はマスターにしない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Gold から片方向で同期する読み取り専用の派生ビュー。AI も人も直接書かず、捨てて再構築できる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85916" y="5559552"/>
            <a:ext cx="2658618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295644" y="5577840"/>
            <a:ext cx="24391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③ ID は Gold で採番し両層で共通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根拠 ID はどちらの層でも同じ行・同じノードを指す。Vector Search の結果から Cypher の探索へそのまま渡せる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027414" y="5559552"/>
            <a:ext cx="2658618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137142" y="5577840"/>
            <a:ext cx="24391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④ 集計は SQL、探索は Cypher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「何件・どれくらい・推移」は Databricks、「なぜ・つながり・他にどこで」は Neo4j。センサー時系列は Databricks に留め、要約だけを属性として同期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deaLab KG">
  <a:themeElements>
    <a:clrScheme name="AIdeaLab KG">
      <a:dk1>
        <a:srgbClr val="000000"/>
      </a:dk1>
      <a:lt1>
        <a:srgbClr val="FFFFFF"/>
      </a:lt1>
      <a:dk2>
        <a:srgbClr val="3C4049"/>
      </a:dk2>
      <a:lt2>
        <a:srgbClr val="DCE4FE"/>
      </a:lt2>
      <a:accent1>
        <a:srgbClr val="2F54F7"/>
      </a:accent1>
      <a:accent2>
        <a:srgbClr val="DCE4FE"/>
      </a:accent2>
      <a:accent3>
        <a:srgbClr val="EEF0F3"/>
      </a:accent3>
      <a:accent4>
        <a:srgbClr val="3C4049"/>
      </a:accent4>
      <a:accent5>
        <a:srgbClr val="2F54F7"/>
      </a:accent5>
      <a:accent6>
        <a:srgbClr val="EEF0F3"/>
      </a:accent6>
      <a:hlink>
        <a:srgbClr val="2F54F7"/>
      </a:hlink>
      <a:folHlink>
        <a:srgbClr val="3C4049"/>
      </a:folHlink>
    </a:clrScheme>
    <a:fontScheme name="AIdeaLab KG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設備保全ナレッジグラフ × AIエージェント ディスカッション資料</dc:title>
  <dc:subject>PptxGenJS Presentation</dc:subject>
  <dc:creator>AIdeaLab</dc:creator>
  <cp:lastModifiedBy>AIdeaLab</cp:lastModifiedBy>
  <cp:revision>1</cp:revision>
  <dcterms:created xsi:type="dcterms:W3CDTF">2026-10-04T09:16:22Z</dcterms:created>
  <dcterms:modified xsi:type="dcterms:W3CDTF">2026-10-04T09:16:22Z</dcterms:modified>
</cp:coreProperties>
</file>