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f8617127-c09c-d697-b523-26551c30298c}">
          <p14:sldIdLst>
            <p14:sldId id="256"/>
          </p14:sldIdLst>
        </p14:section>
        <p14:section name="Executive summary" id="{cb2a38f4-9e7e-3536-24f1-34ddda1b0d37}">
          <p14:sldIdLst>
            <p14:sldId id="257"/>
          </p14:sldIdLst>
        </p14:section>
        <p14:section name="1. The problem" id="{63435f5a-bf54-3eed-73f1-126b4ff23c71}">
          <p14:sldIdLst>
            <p14:sldId id="258"/>
            <p14:sldId id="259"/>
          </p14:sldIdLst>
        </p14:section>
        <p14:section name="2. The solution" id="{8169fbef-1b54-4022-a0ee-e9d193759b4c}">
          <p14:sldIdLst>
            <p14:sldId id="260"/>
            <p14:sldId id="261"/>
          </p14:sldIdLst>
        </p14:section>
        <p14:section name="3. The product" id="{f183bfdc-cfbe-65b5-68cc-2cda2118bef0}">
          <p14:sldIdLst>
            <p14:sldId id="262"/>
          </p14:sldIdLst>
        </p14:section>
        <p14:section name="4. Technical merit" id="{6008083e-d98a-873a-e23c-4a9bc2221a71}">
          <p14:sldIdLst>
            <p14:sldId id="263"/>
            <p14:sldId id="264"/>
          </p14:sldIdLst>
        </p14:section>
        <p14:section name="5. Impact and innovation" id="{48c42808-d760-42a2-e9a1-15ca18e98af6}">
          <p14:sldIdLst>
            <p14:sldId id="265"/>
            <p14:sldId id="266"/>
          </p14:sldIdLst>
        </p14:section>
        <p14:section name="6. Roadmap and team" id="{738a50dd-873c-f796-948d-f89edda71c33}">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2F54F7"/>
          </a:solidFill>
          <a:ln/>
        </p:spPr>
      </p:sp>
      <p:sp>
        <p:nvSpPr>
          <p:cNvPr id="3" name="Text 1"/>
          <p:cNvSpPr/>
          <p:nvPr>
            <p:ph idx="101" type="title" hasCustomPrompt="1"/>
          </p:nvPr>
        </p:nvSpPr>
        <p:spPr>
          <a:xfrm>
            <a:off x="548640" y="1463040"/>
            <a:ext cx="4206240" cy="292608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4" name="Text 1"/>
          <p:cNvSpPr/>
          <p:nvPr>
            <p:ph idx="102" type="body" hasCustomPrompt="1"/>
          </p:nvPr>
        </p:nvSpPr>
        <p:spPr>
          <a:xfrm>
            <a:off x="5669280" y="1554480"/>
            <a:ext cx="5852160" cy="3291840"/>
          </a:xfrm>
          <a:prstGeom prst="rect">
            <a:avLst/>
          </a:prstGeom>
          <a:noFill/>
          <a:ln/>
        </p:spPr>
        <p:txBody>
          <a:bodyPr wrap="square" rtlCol="0"/>
          <a:lstStyle>
            <a:lvl1pPr indent="0" marL="0">
              <a:buNone/>
              <a:defRPr lang="en-US" sz="1600" dirty="0">
                <a:solidFill>
                  <a:srgbClr val="3C4049"/>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F54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651760"/>
            <a:ext cx="10332720" cy="109728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3" name="Text 0"/>
          <p:cNvSpPr/>
          <p:nvPr>
            <p:ph idx="101" type="body" hasCustomPrompt="1"/>
          </p:nvPr>
        </p:nvSpPr>
        <p:spPr>
          <a:xfrm>
            <a:off x="914400" y="3840480"/>
            <a:ext cx="10332720" cy="1280160"/>
          </a:xfrm>
          <a:prstGeom prst="rect">
            <a:avLst/>
          </a:prstGeom>
          <a:noFill/>
          <a:ln/>
        </p:spPr>
        <p:txBody>
          <a:bodyPr wrap="square" rtlCol="0"/>
          <a:lstStyle>
            <a:lvl1pPr indent="0" marL="0">
              <a:buNone/>
              <a:defRPr lang="en-US" sz="1600" dirty="0">
                <a:solidFill>
                  <a:srgbClr val="DCE4FE"/>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rtlCol="0"/>
          <a:lstStyle>
            <a:lvl1pPr indent="0" marL="0">
              <a:buNone/>
              <a:defRPr lang="en-US" sz="1000" dirty="0">
                <a:solidFill>
                  <a:srgbClr val="3C4049"/>
                </a:solidFill>
              </a:defRPr>
            </a:lvl1pPr>
          </a:lstStyle>
          <a:p>
            <a:pPr indent="0" marL="0">
              <a:buNone/>
            </a:pP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rtlCol="0"/>
          <a:lstStyle>
            <a:lvl1pPr algn="l" indent="0" marL="0">
              <a:buNone/>
              <a:defRPr lang="en-US" sz="2000" b="1" dirty="0">
                <a:solidFill>
                  <a:srgbClr val="000000"/>
                </a:solidFill>
              </a:defRPr>
            </a:lvl1pPr>
          </a:lstStyle>
          <a:p>
            <a:pPr algn="l" indent="0" marL="0">
              <a:buNone/>
            </a:pPr>
            <a:endParaRPr lang="en-US" sz="2000" dirty="0"/>
          </a:p>
        </p:txBody>
      </p:sp>
      <p:sp>
        <p:nvSpPr>
          <p:cNvPr id="4" name="Text 0"/>
          <p:cNvSpPr/>
          <p:nvPr/>
        </p:nvSpPr>
        <p:spPr>
          <a:xfrm>
            <a:off x="502920" y="6419088"/>
            <a:ext cx="8229600" cy="274320"/>
          </a:xfrm>
          <a:prstGeom prst="rect">
            <a:avLst/>
          </a:prstGeom>
          <a:noFill/>
          <a:ln/>
        </p:spPr>
        <p:txBody>
          <a:bodyPr wrap="square" lIns="0" tIns="0" rIns="0" bIns="0" rtlCol="0" anchor="ctr"/>
          <a:lstStyle/>
          <a:p>
            <a:pPr indent="0" marL="0">
              <a:buNone/>
            </a:pPr>
            <a:r>
              <a:rPr lang="en-US" sz="900" dirty="0">
                <a:solidFill>
                  <a:srgbClr val="3C4049"/>
                </a:solidFill>
              </a:rPr>
              <a:t>Plant A Maintenance Agent  |  AI Builder Cup 2026  |  Manufacturing</a:t>
            </a:r>
            <a:endParaRPr lang="en-US" sz="9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463040"/>
            <a:ext cx="4206240" cy="2926080"/>
          </a:xfrm>
          <a:prstGeom prst="rect">
            <a:avLst/>
          </a:prstGeom>
          <a:noFill/>
          <a:ln/>
        </p:spPr>
        <p:txBody>
          <a:bodyPr wrap="square" lIns="0" tIns="0" rIns="0" bIns="0" rtlCol="0" anchor="t"/>
          <a:lstStyle/>
          <a:p>
            <a:pPr algn="l" indent="0" marL="0">
              <a:buNone/>
            </a:pPr>
            <a:r>
              <a:rPr lang="en-US" sz="3000" b="1" dirty="0">
                <a:solidFill>
                  <a:srgbClr val="FFFFFF"/>
                </a:solidFill>
              </a:rPr>
              <a:t>Plant A</a:t>
            </a:r>
            <a:endParaRPr lang="en-US" sz="3000" dirty="0"/>
          </a:p>
          <a:p>
            <a:pPr algn="l" indent="0" marL="0">
              <a:buNone/>
            </a:pPr>
            <a:r>
              <a:rPr lang="en-US" sz="3000" b="1" dirty="0">
                <a:solidFill>
                  <a:srgbClr val="FFFFFF"/>
                </a:solidFill>
              </a:rPr>
              <a:t>Maintenance</a:t>
            </a:r>
            <a:endParaRPr lang="en-US" sz="3000" dirty="0"/>
          </a:p>
          <a:p>
            <a:pPr algn="l" indent="0" marL="0">
              <a:buNone/>
            </a:pPr>
            <a:r>
              <a:rPr lang="en-US" sz="3000" b="1" dirty="0">
                <a:solidFill>
                  <a:srgbClr val="FFFFFF"/>
                </a:solidFill>
              </a:rPr>
              <a:t>Agent</a:t>
            </a:r>
            <a:endParaRPr lang="en-US" sz="3000" dirty="0"/>
          </a:p>
        </p:txBody>
      </p:sp>
      <p:sp>
        <p:nvSpPr>
          <p:cNvPr id="3" name="Text 1"/>
          <p:cNvSpPr/>
          <p:nvPr>
            <p:ph idx="102" type="body" hasCustomPrompt="1"/>
          </p:nvPr>
        </p:nvSpPr>
        <p:spPr>
          <a:xfrm>
            <a:off x="5669280" y="1554480"/>
            <a:ext cx="5852160" cy="3291840"/>
          </a:xfrm>
          <a:prstGeom prst="rect">
            <a:avLst/>
          </a:prstGeom>
          <a:noFill/>
          <a:ln/>
        </p:spPr>
        <p:txBody>
          <a:bodyPr wrap="square" lIns="0" tIns="0" rIns="0" bIns="0" rtlCol="0" anchor="t"/>
          <a:lstStyle/>
          <a:p>
            <a:pPr indent="0" marL="0">
              <a:buNone/>
            </a:pPr>
            <a:r>
              <a:rPr lang="en-US" sz="1800" b="1" dirty="0">
                <a:solidFill>
                  <a:srgbClr val="000000"/>
                </a:solidFill>
              </a:rPr>
              <a:t>An ontology-backed AI agent for field engineers in Japanese manufacturing</a:t>
            </a:r>
            <a:endParaRPr lang="en-US" sz="1600" dirty="0"/>
          </a:p>
          <a:p>
            <a:pPr indent="0" marL="0">
              <a:buNone/>
            </a:pPr>
            <a:endParaRPr lang="en-US" sz="1600" dirty="0"/>
          </a:p>
          <a:p>
            <a:pPr indent="0" marL="0">
              <a:buNone/>
            </a:pPr>
            <a:r>
              <a:rPr lang="en-US" sz="1600" dirty="0">
                <a:solidFill>
                  <a:srgbClr val="3C4049"/>
                </a:solidFill>
              </a:rPr>
              <a:t>Every answer comes with evidence you can trace on a graph.</a:t>
            </a:r>
            <a:endParaRPr lang="en-US" sz="1600" dirty="0"/>
          </a:p>
          <a:p>
            <a:pPr indent="0" marL="0">
              <a:buNone/>
            </a:pPr>
            <a:r>
              <a:rPr lang="en-US" sz="1600" dirty="0">
                <a:solidFill>
                  <a:srgbClr val="3C4049"/>
                </a:solidFill>
              </a:rPr>
              <a:t>Gemini 3.8 Flash · Agent Development Kit · Vertex AI · Cloud Run · Neo4j AuraDB</a:t>
            </a:r>
            <a:endParaRPr lang="en-US" sz="1600" dirty="0"/>
          </a:p>
          <a:p>
            <a:pPr indent="0" marL="0">
              <a:buNone/>
            </a:pPr>
            <a:endParaRPr lang="en-US" sz="1600" dirty="0"/>
          </a:p>
          <a:p>
            <a:pPr indent="0" marL="0">
              <a:buNone/>
            </a:pPr>
            <a:r>
              <a:rPr lang="en-US" sz="1600" b="1" dirty="0">
                <a:solidFill>
                  <a:srgbClr val="2F54F7"/>
                </a:solidFill>
              </a:rPr>
              <a:t>AI Builder Cup 2026 · Manufacturing · October 2026</a:t>
            </a:r>
            <a:endParaRPr lang="en-US" sz="1600" dirty="0"/>
          </a:p>
          <a:p>
            <a:pPr indent="0" marL="0">
              <a:buNone/>
            </a:pPr>
            <a:r>
              <a:rPr lang="en-US" sz="1600" dirty="0">
                <a:solidFill>
                  <a:srgbClr val="3C4049"/>
                </a:solidFill>
              </a:rPr>
              <a:t>Kakeru Kurosawa · Kotaro Fukuo</a:t>
            </a:r>
            <a:endParaRPr lang="en-US" sz="1600" dirty="0"/>
          </a:p>
        </p:txBody>
      </p:sp>
      <p:sp>
        <p:nvSpPr>
          <p:cNvPr id="4" name="Text 2"/>
          <p:cNvSpPr txBox="1"/>
          <p:nvPr/>
        </p:nvSpPr>
        <p:spPr>
          <a:xfrm>
            <a:off x="5669280" y="5943600"/>
            <a:ext cx="5852160" cy="457200"/>
          </a:xfrm>
          <a:prstGeom prst="rect">
            <a:avLst/>
          </a:prstGeom>
          <a:noFill/>
          <a:ln/>
        </p:spPr>
        <p:txBody>
          <a:bodyPr wrap="square" lIns="0" tIns="0" rIns="0" bIns="0" rtlCol="0" anchor="t"/>
          <a:lstStyle/>
          <a:p>
            <a:pPr indent="0" marL="0">
              <a:buNone/>
            </a:pPr>
            <a:r>
              <a:rPr lang="en-US" sz="900" dirty="0">
                <a:solidFill>
                  <a:schemeClr val="tx2"/>
                </a:solidFill>
              </a:rPr>
              <a:t>All data in this deck is synthetic (“Plant A”). No real company, product or person is referenced.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Executive summary</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Maintenance know-how that lives in four systems and in retiring veterans can become an AI agent that answers with traceable evidence, on the data a plant already has</a:t>
            </a:r>
            <a:endParaRPr lang="en-US" sz="2000" dirty="0"/>
          </a:p>
        </p:txBody>
      </p:sp>
      <p:sp>
        <p:nvSpPr>
          <p:cNvPr id="4" name="Shape 2"/>
          <p:cNvSpPr/>
          <p:nvPr/>
        </p:nvSpPr>
        <p:spPr>
          <a:xfrm>
            <a:off x="502920" y="1600200"/>
            <a:ext cx="594360" cy="594360"/>
          </a:xfrm>
          <a:prstGeom prst="ellipse">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633679" y="1730959"/>
            <a:ext cx="332842" cy="332842"/>
          </a:xfrm>
          <a:prstGeom prst="rect">
            <a:avLst/>
          </a:prstGeom>
        </p:spPr>
      </p:pic>
      <p:sp>
        <p:nvSpPr>
          <p:cNvPr id="6" name="Text 3"/>
          <p:cNvSpPr txBox="1"/>
          <p:nvPr/>
        </p:nvSpPr>
        <p:spPr>
          <a:xfrm>
            <a:off x="1325880" y="1600200"/>
            <a:ext cx="1828800" cy="594360"/>
          </a:xfrm>
          <a:prstGeom prst="rect">
            <a:avLst/>
          </a:prstGeom>
          <a:noFill/>
          <a:ln/>
        </p:spPr>
        <p:txBody>
          <a:bodyPr wrap="square" lIns="0" tIns="0" rIns="0" bIns="0" rtlCol="0" anchor="ctr"/>
          <a:lstStyle/>
          <a:p>
            <a:pPr indent="0" marL="0">
              <a:buNone/>
            </a:pPr>
            <a:r>
              <a:rPr lang="en-US" sz="1500" b="1" dirty="0">
                <a:solidFill>
                  <a:schemeClr val="accent1"/>
                </a:solidFill>
              </a:rPr>
              <a:t>Problem</a:t>
            </a:r>
            <a:endParaRPr lang="en-US" sz="1500" dirty="0"/>
          </a:p>
        </p:txBody>
      </p:sp>
      <p:sp>
        <p:nvSpPr>
          <p:cNvPr id="7" name="Text 4"/>
          <p:cNvSpPr txBox="1"/>
          <p:nvPr/>
        </p:nvSpPr>
        <p:spPr>
          <a:xfrm>
            <a:off x="3154680" y="1581912"/>
            <a:ext cx="8531352" cy="1051560"/>
          </a:xfrm>
          <a:prstGeom prst="rect">
            <a:avLst/>
          </a:prstGeom>
          <a:noFill/>
          <a:ln/>
        </p:spPr>
        <p:txBody>
          <a:bodyPr wrap="square" lIns="0" tIns="0" rIns="0" bIns="0" rtlCol="0" anchor="t"/>
          <a:lstStyle/>
          <a:p>
            <a:pPr indent="0" marL="0">
              <a:buNone/>
            </a:pPr>
            <a:r>
              <a:rPr lang="en-US" sz="1200" dirty="0">
                <a:solidFill>
                  <a:schemeClr val="tx1"/>
                </a:solidFill>
              </a:rPr>
              <a:t>When a machine fails at night, the facts needed to decide are scattered across the equipment register, work orders, the parts inventory and manuals, and the veteran who connects them is off duty or retiring. Document search cannot connect them.</a:t>
            </a:r>
            <a:endParaRPr lang="en-US" sz="1200" dirty="0"/>
          </a:p>
        </p:txBody>
      </p:sp>
      <p:sp>
        <p:nvSpPr>
          <p:cNvPr id="8" name="Shape 5"/>
          <p:cNvSpPr/>
          <p:nvPr/>
        </p:nvSpPr>
        <p:spPr>
          <a:xfrm>
            <a:off x="502920" y="2788920"/>
            <a:ext cx="594360" cy="594360"/>
          </a:xfrm>
          <a:prstGeom prst="ellipse">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633679" y="2919679"/>
            <a:ext cx="332842" cy="332842"/>
          </a:xfrm>
          <a:prstGeom prst="rect">
            <a:avLst/>
          </a:prstGeom>
        </p:spPr>
      </p:pic>
      <p:sp>
        <p:nvSpPr>
          <p:cNvPr id="10" name="Text 6"/>
          <p:cNvSpPr txBox="1"/>
          <p:nvPr/>
        </p:nvSpPr>
        <p:spPr>
          <a:xfrm>
            <a:off x="1325880" y="2788920"/>
            <a:ext cx="1828800" cy="594360"/>
          </a:xfrm>
          <a:prstGeom prst="rect">
            <a:avLst/>
          </a:prstGeom>
          <a:noFill/>
          <a:ln/>
        </p:spPr>
        <p:txBody>
          <a:bodyPr wrap="square" lIns="0" tIns="0" rIns="0" bIns="0" rtlCol="0" anchor="ctr"/>
          <a:lstStyle/>
          <a:p>
            <a:pPr indent="0" marL="0">
              <a:buNone/>
            </a:pPr>
            <a:r>
              <a:rPr lang="en-US" sz="1500" b="1" dirty="0">
                <a:solidFill>
                  <a:schemeClr val="accent1"/>
                </a:solidFill>
              </a:rPr>
              <a:t>Solution</a:t>
            </a:r>
            <a:endParaRPr lang="en-US" sz="1500" dirty="0"/>
          </a:p>
        </p:txBody>
      </p:sp>
      <p:sp>
        <p:nvSpPr>
          <p:cNvPr id="11" name="Text 7"/>
          <p:cNvSpPr txBox="1"/>
          <p:nvPr/>
        </p:nvSpPr>
        <p:spPr>
          <a:xfrm>
            <a:off x="3154680" y="2770632"/>
            <a:ext cx="8531352" cy="1051560"/>
          </a:xfrm>
          <a:prstGeom prst="rect">
            <a:avLst/>
          </a:prstGeom>
          <a:noFill/>
          <a:ln/>
        </p:spPr>
        <p:txBody>
          <a:bodyPr wrap="square" lIns="0" tIns="0" rIns="0" bIns="0" rtlCol="0" anchor="t"/>
          <a:lstStyle/>
          <a:p>
            <a:pPr indent="0" marL="0">
              <a:buNone/>
            </a:pPr>
            <a:r>
              <a:rPr lang="en-US" sz="1200" dirty="0">
                <a:solidFill>
                  <a:schemeClr val="tx1"/>
                </a:solidFill>
              </a:rPr>
              <a:t>We model the plant as an ontology (equipment, components, failure modes, symptoms, work orders, procedures, parts, people) in a knowledge graph. A Gemini agent built with ADK walks it through read-only tools and cites work-order IDs and manual pages.</a:t>
            </a:r>
            <a:endParaRPr lang="en-US" sz="1200" dirty="0"/>
          </a:p>
        </p:txBody>
      </p:sp>
      <p:sp>
        <p:nvSpPr>
          <p:cNvPr id="12" name="Shape 8"/>
          <p:cNvSpPr/>
          <p:nvPr/>
        </p:nvSpPr>
        <p:spPr>
          <a:xfrm>
            <a:off x="502920" y="3977640"/>
            <a:ext cx="594360" cy="594360"/>
          </a:xfrm>
          <a:prstGeom prst="ellipse">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633679" y="4108399"/>
            <a:ext cx="332842" cy="332842"/>
          </a:xfrm>
          <a:prstGeom prst="rect">
            <a:avLst/>
          </a:prstGeom>
        </p:spPr>
      </p:pic>
      <p:sp>
        <p:nvSpPr>
          <p:cNvPr id="14" name="Text 9"/>
          <p:cNvSpPr txBox="1"/>
          <p:nvPr/>
        </p:nvSpPr>
        <p:spPr>
          <a:xfrm>
            <a:off x="1325880" y="3977640"/>
            <a:ext cx="1828800" cy="594360"/>
          </a:xfrm>
          <a:prstGeom prst="rect">
            <a:avLst/>
          </a:prstGeom>
          <a:noFill/>
          <a:ln/>
        </p:spPr>
        <p:txBody>
          <a:bodyPr wrap="square" lIns="0" tIns="0" rIns="0" bIns="0" rtlCol="0" anchor="ctr"/>
          <a:lstStyle/>
          <a:p>
            <a:pPr indent="0" marL="0">
              <a:buNone/>
            </a:pPr>
            <a:r>
              <a:rPr lang="en-US" sz="1500" b="1" dirty="0">
                <a:solidFill>
                  <a:schemeClr val="accent1"/>
                </a:solidFill>
              </a:rPr>
              <a:t>Proof</a:t>
            </a:r>
            <a:endParaRPr lang="en-US" sz="1500" dirty="0"/>
          </a:p>
        </p:txBody>
      </p:sp>
      <p:sp>
        <p:nvSpPr>
          <p:cNvPr id="15" name="Text 10"/>
          <p:cNvSpPr txBox="1"/>
          <p:nvPr/>
        </p:nvSpPr>
        <p:spPr>
          <a:xfrm>
            <a:off x="3154680" y="3959352"/>
            <a:ext cx="8531352" cy="1051560"/>
          </a:xfrm>
          <a:prstGeom prst="rect">
            <a:avLst/>
          </a:prstGeom>
          <a:noFill/>
          <a:ln/>
        </p:spPr>
        <p:txBody>
          <a:bodyPr wrap="square" lIns="0" tIns="0" rIns="0" bIns="0" rtlCol="0" anchor="t"/>
          <a:lstStyle/>
          <a:p>
            <a:pPr indent="0" marL="0">
              <a:buNone/>
            </a:pPr>
            <a:r>
              <a:rPr lang="en-US" sz="1200" dirty="0">
                <a:solidFill>
                  <a:schemeClr val="tx1"/>
                </a:solidFill>
              </a:rPr>
              <a:t>Deployed on Cloud Run with Neo4j AuraDB. In rehearsal, 45 of 45 reference answers were correct across diagnosis, cross-line comparison, parts and people, aggregation and “no record” questions. ADK hallucination score 1.0; median answer about 20 seconds.</a:t>
            </a:r>
            <a:endParaRPr lang="en-US" sz="1200" dirty="0"/>
          </a:p>
        </p:txBody>
      </p:sp>
      <p:sp>
        <p:nvSpPr>
          <p:cNvPr id="16" name="Shape 11"/>
          <p:cNvSpPr/>
          <p:nvPr/>
        </p:nvSpPr>
        <p:spPr>
          <a:xfrm>
            <a:off x="502920" y="5166360"/>
            <a:ext cx="594360" cy="594360"/>
          </a:xfrm>
          <a:prstGeom prst="ellipse">
            <a:avLst/>
          </a:prstGeom>
          <a:solidFill>
            <a:schemeClr val="bg2"/>
          </a:solidFill>
          <a:ln w="12700">
            <a:solidFill>
              <a:schemeClr val="bg2"/>
            </a:solidFill>
            <a:prstDash val="solid"/>
          </a:ln>
        </p:spPr>
      </p:sp>
      <p:pic>
        <p:nvPicPr>
          <p:cNvPr id="17" name="Image 3" descr="preencoded.png">    </p:cNvPr>
          <p:cNvPicPr>
            <a:picLocks noChangeAspect="1"/>
          </p:cNvPicPr>
          <p:nvPr/>
        </p:nvPicPr>
        <p:blipFill>
          <a:blip r:embed="rId4"/>
          <a:stretch>
            <a:fillRect/>
          </a:stretch>
        </p:blipFill>
        <p:spPr>
          <a:xfrm>
            <a:off x="633679" y="5297119"/>
            <a:ext cx="332842" cy="332842"/>
          </a:xfrm>
          <a:prstGeom prst="rect">
            <a:avLst/>
          </a:prstGeom>
        </p:spPr>
      </p:pic>
      <p:sp>
        <p:nvSpPr>
          <p:cNvPr id="18" name="Text 12"/>
          <p:cNvSpPr txBox="1"/>
          <p:nvPr/>
        </p:nvSpPr>
        <p:spPr>
          <a:xfrm>
            <a:off x="1325880" y="5166360"/>
            <a:ext cx="1828800" cy="594360"/>
          </a:xfrm>
          <a:prstGeom prst="rect">
            <a:avLst/>
          </a:prstGeom>
          <a:noFill/>
          <a:ln/>
        </p:spPr>
        <p:txBody>
          <a:bodyPr wrap="square" lIns="0" tIns="0" rIns="0" bIns="0" rtlCol="0" anchor="ctr"/>
          <a:lstStyle/>
          <a:p>
            <a:pPr indent="0" marL="0">
              <a:buNone/>
            </a:pPr>
            <a:r>
              <a:rPr lang="en-US" sz="1500" b="1" dirty="0">
                <a:solidFill>
                  <a:schemeClr val="accent1"/>
                </a:solidFill>
              </a:rPr>
              <a:t>Impact</a:t>
            </a:r>
            <a:endParaRPr lang="en-US" sz="1500" dirty="0"/>
          </a:p>
        </p:txBody>
      </p:sp>
      <p:sp>
        <p:nvSpPr>
          <p:cNvPr id="19" name="Text 13"/>
          <p:cNvSpPr txBox="1"/>
          <p:nvPr/>
        </p:nvSpPr>
        <p:spPr>
          <a:xfrm>
            <a:off x="3154680" y="5148072"/>
            <a:ext cx="8531352" cy="1051560"/>
          </a:xfrm>
          <a:prstGeom prst="rect">
            <a:avLst/>
          </a:prstGeom>
          <a:noFill/>
          <a:ln/>
        </p:spPr>
        <p:txBody>
          <a:bodyPr wrap="square" lIns="0" tIns="0" rIns="0" bIns="0" rtlCol="0" anchor="t"/>
          <a:lstStyle/>
          <a:p>
            <a:pPr indent="0" marL="0">
              <a:buNone/>
            </a:pPr>
            <a:r>
              <a:rPr lang="en-US" sz="1200" dirty="0">
                <a:solidFill>
                  <a:schemeClr val="tx1"/>
                </a:solidFill>
              </a:rPr>
              <a:t>Shorter diagnosis on every unplanned stop, cross-line patterns that registers alone hide, and know-how that survives retirements. The same pipeline runs on a plant's own registers, work orders and manuals, in Japanese or English, in four weeks.</a:t>
            </a:r>
            <a:endParaRPr lang="en-US" sz="12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1. The problem</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Field engineers lose hours on every unplanned stop because the facts needed to decide live in four places, and in one veteran's head</a:t>
            </a:r>
            <a:endParaRPr lang="en-US" sz="2000" dirty="0"/>
          </a:p>
        </p:txBody>
      </p:sp>
      <p:sp>
        <p:nvSpPr>
          <p:cNvPr id="4" name="Shape 2"/>
          <p:cNvSpPr/>
          <p:nvPr/>
        </p:nvSpPr>
        <p:spPr>
          <a:xfrm>
            <a:off x="502920" y="1645920"/>
            <a:ext cx="2697480" cy="2514600"/>
          </a:xfrm>
          <a:prstGeom prst="roundRect">
            <a:avLst>
              <a:gd name="adj" fmla="val 2909"/>
            </a:avLst>
          </a:prstGeom>
          <a:solidFill>
            <a:schemeClr val="accent3"/>
          </a:solidFill>
          <a:ln w="12700">
            <a:solidFill>
              <a:schemeClr val="accent3"/>
            </a:solidFill>
            <a:prstDash val="solid"/>
          </a:ln>
        </p:spPr>
      </p:sp>
      <p:sp>
        <p:nvSpPr>
          <p:cNvPr id="5" name="Shape 3"/>
          <p:cNvSpPr/>
          <p:nvPr/>
        </p:nvSpPr>
        <p:spPr>
          <a:xfrm>
            <a:off x="731520" y="1874520"/>
            <a:ext cx="548640" cy="54864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852221" y="1995221"/>
            <a:ext cx="307238" cy="307238"/>
          </a:xfrm>
          <a:prstGeom prst="rect">
            <a:avLst/>
          </a:prstGeom>
        </p:spPr>
      </p:pic>
      <p:sp>
        <p:nvSpPr>
          <p:cNvPr id="7" name="Text 4"/>
          <p:cNvSpPr txBox="1"/>
          <p:nvPr/>
        </p:nvSpPr>
        <p:spPr>
          <a:xfrm>
            <a:off x="1417320" y="1901952"/>
            <a:ext cx="1554480" cy="502920"/>
          </a:xfrm>
          <a:prstGeom prst="rect">
            <a:avLst/>
          </a:prstGeom>
          <a:noFill/>
          <a:ln/>
        </p:spPr>
        <p:txBody>
          <a:bodyPr wrap="square" lIns="0" tIns="0" rIns="0" bIns="0" rtlCol="0" anchor="t"/>
          <a:lstStyle/>
          <a:p>
            <a:pPr indent="0" marL="0">
              <a:buNone/>
            </a:pPr>
            <a:r>
              <a:rPr lang="en-US" sz="1400" b="1" dirty="0">
                <a:solidFill>
                  <a:schemeClr val="tx1"/>
                </a:solidFill>
              </a:rPr>
              <a:t>Equipment register &amp; BOM</a:t>
            </a:r>
            <a:endParaRPr lang="en-US" sz="1400" dirty="0"/>
          </a:p>
        </p:txBody>
      </p:sp>
      <p:sp>
        <p:nvSpPr>
          <p:cNvPr id="8" name="Text 5"/>
          <p:cNvSpPr txBox="1"/>
          <p:nvPr/>
        </p:nvSpPr>
        <p:spPr>
          <a:xfrm>
            <a:off x="731520" y="251460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Models, install years and component structure in a CMMS or Excel</a:t>
            </a:r>
            <a:endParaRPr lang="en-US" sz="1150" dirty="0"/>
          </a:p>
          <a:p>
            <a:pPr marL="342900" indent="-342900">
              <a:spcAft>
                <a:spcPts val="400"/>
              </a:spcAft>
              <a:buSzPct val="100000"/>
              <a:buChar char="•"/>
            </a:pPr>
            <a:r>
              <a:rPr lang="en-US" sz="1150" dirty="0">
                <a:solidFill>
                  <a:schemeClr val="tx1"/>
                </a:solidFill>
              </a:rPr>
              <a:t>Finding “the same model on another line” means searching across registers</a:t>
            </a:r>
            <a:endParaRPr lang="en-US" sz="1150" dirty="0"/>
          </a:p>
        </p:txBody>
      </p:sp>
      <p:sp>
        <p:nvSpPr>
          <p:cNvPr id="9" name="Shape 6"/>
          <p:cNvSpPr/>
          <p:nvPr/>
        </p:nvSpPr>
        <p:spPr>
          <a:xfrm>
            <a:off x="3337560" y="1645920"/>
            <a:ext cx="2697480" cy="2514600"/>
          </a:xfrm>
          <a:prstGeom prst="roundRect">
            <a:avLst>
              <a:gd name="adj" fmla="val 2909"/>
            </a:avLst>
          </a:prstGeom>
          <a:solidFill>
            <a:schemeClr val="accent3"/>
          </a:solidFill>
          <a:ln w="12700">
            <a:solidFill>
              <a:schemeClr val="accent3"/>
            </a:solidFill>
            <a:prstDash val="solid"/>
          </a:ln>
        </p:spPr>
      </p:sp>
      <p:sp>
        <p:nvSpPr>
          <p:cNvPr id="10" name="Shape 7"/>
          <p:cNvSpPr/>
          <p:nvPr/>
        </p:nvSpPr>
        <p:spPr>
          <a:xfrm>
            <a:off x="3566160" y="1874520"/>
            <a:ext cx="548640" cy="548640"/>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3686861" y="1995221"/>
            <a:ext cx="307238" cy="307238"/>
          </a:xfrm>
          <a:prstGeom prst="rect">
            <a:avLst/>
          </a:prstGeom>
        </p:spPr>
      </p:pic>
      <p:sp>
        <p:nvSpPr>
          <p:cNvPr id="12" name="Text 8"/>
          <p:cNvSpPr txBox="1"/>
          <p:nvPr/>
        </p:nvSpPr>
        <p:spPr>
          <a:xfrm>
            <a:off x="4251960" y="1901952"/>
            <a:ext cx="1554480" cy="502920"/>
          </a:xfrm>
          <a:prstGeom prst="rect">
            <a:avLst/>
          </a:prstGeom>
          <a:noFill/>
          <a:ln/>
        </p:spPr>
        <p:txBody>
          <a:bodyPr wrap="square" lIns="0" tIns="0" rIns="0" bIns="0" rtlCol="0" anchor="t"/>
          <a:lstStyle/>
          <a:p>
            <a:pPr indent="0" marL="0">
              <a:buNone/>
            </a:pPr>
            <a:r>
              <a:rPr lang="en-US" sz="1400" b="1" dirty="0">
                <a:solidFill>
                  <a:schemeClr val="tx1"/>
                </a:solidFill>
              </a:rPr>
              <a:t>Work orders</a:t>
            </a:r>
            <a:endParaRPr lang="en-US" sz="1400" dirty="0"/>
          </a:p>
        </p:txBody>
      </p:sp>
      <p:sp>
        <p:nvSpPr>
          <p:cNvPr id="13" name="Text 9"/>
          <p:cNvSpPr txBox="1"/>
          <p:nvPr/>
        </p:nvSpPr>
        <p:spPr>
          <a:xfrm>
            <a:off x="3566160" y="251460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“What happened, when, what we did” in a CMMS, daily reports or paper</a:t>
            </a:r>
            <a:endParaRPr lang="en-US" sz="1150" dirty="0"/>
          </a:p>
          <a:p>
            <a:pPr marL="342900" indent="-342900">
              <a:spcAft>
                <a:spcPts val="400"/>
              </a:spcAft>
              <a:buSzPct val="100000"/>
              <a:buChar char="•"/>
            </a:pPr>
            <a:r>
              <a:rPr lang="en-US" sz="1150" dirty="0">
                <a:solidFill>
                  <a:schemeClr val="tx1"/>
                </a:solidFill>
              </a:rPr>
              <a:t>Similar past cases are found from memory, if at all</a:t>
            </a:r>
            <a:endParaRPr lang="en-US" sz="1150" dirty="0"/>
          </a:p>
        </p:txBody>
      </p:sp>
      <p:sp>
        <p:nvSpPr>
          <p:cNvPr id="14" name="Shape 10"/>
          <p:cNvSpPr/>
          <p:nvPr/>
        </p:nvSpPr>
        <p:spPr>
          <a:xfrm>
            <a:off x="6172200" y="1645920"/>
            <a:ext cx="2697480" cy="2514600"/>
          </a:xfrm>
          <a:prstGeom prst="roundRect">
            <a:avLst>
              <a:gd name="adj" fmla="val 2909"/>
            </a:avLst>
          </a:prstGeom>
          <a:solidFill>
            <a:schemeClr val="accent3"/>
          </a:solidFill>
          <a:ln w="12700">
            <a:solidFill>
              <a:schemeClr val="accent3"/>
            </a:solidFill>
            <a:prstDash val="solid"/>
          </a:ln>
        </p:spPr>
      </p:sp>
      <p:sp>
        <p:nvSpPr>
          <p:cNvPr id="15" name="Shape 11"/>
          <p:cNvSpPr/>
          <p:nvPr/>
        </p:nvSpPr>
        <p:spPr>
          <a:xfrm>
            <a:off x="6400800" y="1874520"/>
            <a:ext cx="548640" cy="548640"/>
          </a:xfrm>
          <a:prstGeom prst="ellipse">
            <a:avLst/>
          </a:prstGeom>
          <a:solidFill>
            <a:schemeClr val="bg1"/>
          </a:solidFill>
          <a:ln w="127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6521501" y="1995221"/>
            <a:ext cx="307238" cy="307238"/>
          </a:xfrm>
          <a:prstGeom prst="rect">
            <a:avLst/>
          </a:prstGeom>
        </p:spPr>
      </p:pic>
      <p:sp>
        <p:nvSpPr>
          <p:cNvPr id="17" name="Text 12"/>
          <p:cNvSpPr txBox="1"/>
          <p:nvPr/>
        </p:nvSpPr>
        <p:spPr>
          <a:xfrm>
            <a:off x="7086600" y="1901952"/>
            <a:ext cx="1554480" cy="502920"/>
          </a:xfrm>
          <a:prstGeom prst="rect">
            <a:avLst/>
          </a:prstGeom>
          <a:noFill/>
          <a:ln/>
        </p:spPr>
        <p:txBody>
          <a:bodyPr wrap="square" lIns="0" tIns="0" rIns="0" bIns="0" rtlCol="0" anchor="t"/>
          <a:lstStyle/>
          <a:p>
            <a:pPr indent="0" marL="0">
              <a:buNone/>
            </a:pPr>
            <a:r>
              <a:rPr lang="en-US" sz="1400" b="1" dirty="0">
                <a:solidFill>
                  <a:schemeClr val="tx1"/>
                </a:solidFill>
              </a:rPr>
              <a:t>Manuals</a:t>
            </a:r>
            <a:endParaRPr lang="en-US" sz="1400" dirty="0"/>
          </a:p>
        </p:txBody>
      </p:sp>
      <p:sp>
        <p:nvSpPr>
          <p:cNvPr id="18" name="Text 13"/>
          <p:cNvSpPr txBox="1"/>
          <p:nvPr/>
        </p:nvSpPr>
        <p:spPr>
          <a:xfrm>
            <a:off x="6400800" y="251460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Vendor PDFs with judgement thresholds and procedures</a:t>
            </a:r>
            <a:endParaRPr lang="en-US" sz="1150" dirty="0"/>
          </a:p>
          <a:p>
            <a:pPr marL="342900" indent="-342900">
              <a:spcAft>
                <a:spcPts val="400"/>
              </a:spcAft>
              <a:buSzPct val="100000"/>
              <a:buChar char="•"/>
            </a:pPr>
            <a:r>
              <a:rPr lang="en-US" sz="1150" dirty="0">
                <a:solidFill>
                  <a:schemeClr val="tx1"/>
                </a:solidFill>
              </a:rPr>
              <a:t>Someone has to remember which page</a:t>
            </a:r>
            <a:endParaRPr lang="en-US" sz="1150" dirty="0"/>
          </a:p>
        </p:txBody>
      </p:sp>
      <p:sp>
        <p:nvSpPr>
          <p:cNvPr id="19" name="Shape 14"/>
          <p:cNvSpPr/>
          <p:nvPr/>
        </p:nvSpPr>
        <p:spPr>
          <a:xfrm>
            <a:off x="9006840" y="1645920"/>
            <a:ext cx="2697480" cy="2514600"/>
          </a:xfrm>
          <a:prstGeom prst="roundRect">
            <a:avLst>
              <a:gd name="adj" fmla="val 2909"/>
            </a:avLst>
          </a:prstGeom>
          <a:solidFill>
            <a:schemeClr val="accent3"/>
          </a:solidFill>
          <a:ln w="12700">
            <a:solidFill>
              <a:schemeClr val="accent3"/>
            </a:solidFill>
            <a:prstDash val="solid"/>
          </a:ln>
        </p:spPr>
      </p:sp>
      <p:sp>
        <p:nvSpPr>
          <p:cNvPr id="20" name="Shape 15"/>
          <p:cNvSpPr/>
          <p:nvPr/>
        </p:nvSpPr>
        <p:spPr>
          <a:xfrm>
            <a:off x="9235440" y="1874520"/>
            <a:ext cx="548640" cy="548640"/>
          </a:xfrm>
          <a:prstGeom prst="ellipse">
            <a:avLst/>
          </a:prstGeom>
          <a:solidFill>
            <a:schemeClr val="bg1"/>
          </a:solidFill>
          <a:ln w="12700">
            <a:solidFill>
              <a:schemeClr val="bg1"/>
            </a:solidFill>
            <a:prstDash val="solid"/>
          </a:ln>
        </p:spPr>
      </p:sp>
      <p:pic>
        <p:nvPicPr>
          <p:cNvPr id="21" name="Image 3" descr="preencoded.png">    </p:cNvPr>
          <p:cNvPicPr>
            <a:picLocks noChangeAspect="1"/>
          </p:cNvPicPr>
          <p:nvPr/>
        </p:nvPicPr>
        <p:blipFill>
          <a:blip r:embed="rId4"/>
          <a:stretch>
            <a:fillRect/>
          </a:stretch>
        </p:blipFill>
        <p:spPr>
          <a:xfrm>
            <a:off x="9356141" y="1995221"/>
            <a:ext cx="307238" cy="307238"/>
          </a:xfrm>
          <a:prstGeom prst="rect">
            <a:avLst/>
          </a:prstGeom>
        </p:spPr>
      </p:pic>
      <p:sp>
        <p:nvSpPr>
          <p:cNvPr id="22" name="Text 16"/>
          <p:cNvSpPr txBox="1"/>
          <p:nvPr/>
        </p:nvSpPr>
        <p:spPr>
          <a:xfrm>
            <a:off x="9921240" y="1901952"/>
            <a:ext cx="1554480" cy="502920"/>
          </a:xfrm>
          <a:prstGeom prst="rect">
            <a:avLst/>
          </a:prstGeom>
          <a:noFill/>
          <a:ln/>
        </p:spPr>
        <p:txBody>
          <a:bodyPr wrap="square" lIns="0" tIns="0" rIns="0" bIns="0" rtlCol="0" anchor="t"/>
          <a:lstStyle/>
          <a:p>
            <a:pPr indent="0" marL="0">
              <a:buNone/>
            </a:pPr>
            <a:r>
              <a:rPr lang="en-US" sz="1400" b="1" dirty="0">
                <a:solidFill>
                  <a:schemeClr val="tx1"/>
                </a:solidFill>
              </a:rPr>
              <a:t>Veteran experience</a:t>
            </a:r>
            <a:endParaRPr lang="en-US" sz="1400" dirty="0"/>
          </a:p>
        </p:txBody>
      </p:sp>
      <p:sp>
        <p:nvSpPr>
          <p:cNvPr id="23" name="Text 17"/>
          <p:cNvSpPr txBox="1"/>
          <p:nvPr/>
        </p:nvSpPr>
        <p:spPr>
          <a:xfrm>
            <a:off x="9235440" y="251460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Which cause to suspect from a symptom; what to check on a repeat failure</a:t>
            </a:r>
            <a:endParaRPr lang="en-US" sz="1150" dirty="0"/>
          </a:p>
          <a:p>
            <a:pPr marL="342900" indent="-342900">
              <a:spcAft>
                <a:spcPts val="400"/>
              </a:spcAft>
              <a:buSzPct val="100000"/>
              <a:buChar char="•"/>
            </a:pPr>
            <a:r>
              <a:rPr lang="en-US" sz="1150" dirty="0">
                <a:solidFill>
                  <a:schemeClr val="tx1"/>
                </a:solidFill>
              </a:rPr>
              <a:t>Not on the night shift; lost at retirement</a:t>
            </a:r>
            <a:endParaRPr lang="en-US" sz="1150" dirty="0"/>
          </a:p>
        </p:txBody>
      </p:sp>
      <p:sp>
        <p:nvSpPr>
          <p:cNvPr id="24" name="Shape 18"/>
          <p:cNvSpPr/>
          <p:nvPr/>
        </p:nvSpPr>
        <p:spPr>
          <a:xfrm>
            <a:off x="502920" y="4526280"/>
            <a:ext cx="11183112" cy="1325880"/>
          </a:xfrm>
          <a:prstGeom prst="roundRect">
            <a:avLst>
              <a:gd name="adj" fmla="val 5517"/>
            </a:avLst>
          </a:prstGeom>
          <a:solidFill>
            <a:schemeClr val="bg2"/>
          </a:solidFill>
          <a:ln w="12700">
            <a:solidFill>
              <a:schemeClr val="bg2"/>
            </a:solidFill>
            <a:prstDash val="solid"/>
          </a:ln>
        </p:spPr>
      </p:sp>
      <p:sp>
        <p:nvSpPr>
          <p:cNvPr id="25" name="Text 19"/>
          <p:cNvSpPr txBox="1"/>
          <p:nvPr/>
        </p:nvSpPr>
        <p:spPr>
          <a:xfrm>
            <a:off x="777240" y="4663440"/>
            <a:ext cx="10634472" cy="1097280"/>
          </a:xfrm>
          <a:prstGeom prst="rect">
            <a:avLst/>
          </a:prstGeom>
          <a:noFill/>
          <a:ln/>
        </p:spPr>
        <p:txBody>
          <a:bodyPr wrap="square" lIns="0" tIns="0" rIns="0" bIns="0" rtlCol="0" anchor="t"/>
          <a:lstStyle/>
          <a:p>
            <a:pPr indent="0" marL="0">
              <a:buNone/>
            </a:pPr>
            <a:r>
              <a:rPr lang="en-US" sz="1200" b="1" dirty="0">
                <a:solidFill>
                  <a:schemeClr val="accent1"/>
                </a:solidFill>
              </a:rPr>
              <a:t>Plant A (our synthetic demo plant)   </a:t>
            </a:r>
            <a:pPr indent="0" marL="0">
              <a:buNone/>
            </a:pPr>
            <a:r>
              <a:rPr lang="en-US" sz="1200" dirty="0">
                <a:solidFill>
                  <a:schemeClr val="tx1"/>
                </a:solidFill>
              </a:rPr>
              <a:t>Three press procedures (slide-guide, clutch-brake and flywheel-bearing replacement) can only be performed by one technician who holds the press-operation certificate and retires at the end of FY2026. The register, the work orders and the skills ledger each know one piece of this; nobody sees it until the three are connected.</a:t>
            </a:r>
            <a:endParaRPr lang="en-US" sz="12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1. The problem</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Document search (RAG alone) cannot answer the questions that matter most on the floor: cross-line similarity, counts, and “who can do this”</a:t>
            </a:r>
            <a:endParaRPr lang="en-US" sz="2000" dirty="0"/>
          </a:p>
        </p:txBody>
      </p:sp>
      <p:sp>
        <p:nvSpPr>
          <p:cNvPr id="4" name="Shape 2"/>
          <p:cNvSpPr/>
          <p:nvPr/>
        </p:nvSpPr>
        <p:spPr>
          <a:xfrm>
            <a:off x="502920" y="1645920"/>
            <a:ext cx="5408676" cy="4480560"/>
          </a:xfrm>
          <a:prstGeom prst="roundRect">
            <a:avLst>
              <a:gd name="adj" fmla="val 1633"/>
            </a:avLst>
          </a:prstGeom>
          <a:solidFill>
            <a:schemeClr val="accent3"/>
          </a:solidFill>
          <a:ln w="12700">
            <a:solidFill>
              <a:schemeClr val="accent3"/>
            </a:solidFill>
            <a:prstDash val="solid"/>
          </a:ln>
        </p:spPr>
      </p:sp>
      <p:sp>
        <p:nvSpPr>
          <p:cNvPr id="5" name="Text 3"/>
          <p:cNvSpPr txBox="1"/>
          <p:nvPr/>
        </p:nvSpPr>
        <p:spPr>
          <a:xfrm>
            <a:off x="777240" y="1828800"/>
            <a:ext cx="4860036" cy="457200"/>
          </a:xfrm>
          <a:prstGeom prst="rect">
            <a:avLst/>
          </a:prstGeom>
          <a:noFill/>
          <a:ln/>
        </p:spPr>
        <p:txBody>
          <a:bodyPr wrap="square" lIns="0" tIns="0" rIns="0" bIns="0" rtlCol="0" anchor="t"/>
          <a:lstStyle/>
          <a:p>
            <a:pPr indent="0" marL="0">
              <a:buNone/>
            </a:pPr>
            <a:r>
              <a:rPr lang="en-US" sz="1500" b="1" dirty="0">
                <a:solidFill>
                  <a:schemeClr val="tx1"/>
                </a:solidFill>
              </a:rPr>
              <a:t>Document search only</a:t>
            </a:r>
            <a:endParaRPr lang="en-US" sz="1500" dirty="0"/>
          </a:p>
        </p:txBody>
      </p:sp>
      <p:sp>
        <p:nvSpPr>
          <p:cNvPr id="6" name="Text 4"/>
          <p:cNvSpPr txBox="1"/>
          <p:nvPr/>
        </p:nvSpPr>
        <p:spPr>
          <a:xfrm>
            <a:off x="777240" y="2377440"/>
            <a:ext cx="4860036" cy="3657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Retrieves text chunks that look similar. The P-301 manual and P-301 reports are found</a:t>
            </a:r>
            <a:endParaRPr lang="en-US" sz="1250" dirty="0"/>
          </a:p>
          <a:p>
            <a:pPr marL="342900" indent="-342900">
              <a:spcAft>
                <a:spcPts val="800"/>
              </a:spcAft>
              <a:buSzPct val="100000"/>
              <a:buChar char="•"/>
            </a:pPr>
            <a:r>
              <a:rPr lang="en-US" sz="1250" dirty="0">
                <a:solidFill>
                  <a:schemeClr val="tx1"/>
                </a:solidFill>
              </a:rPr>
              <a:t>Reports from the same model on another line never say “P-301”, so they are missed</a:t>
            </a:r>
            <a:endParaRPr lang="en-US" sz="1250" dirty="0"/>
          </a:p>
          <a:p>
            <a:pPr marL="342900" indent="-342900">
              <a:spcAft>
                <a:spcPts val="800"/>
              </a:spcAft>
              <a:buSzPct val="100000"/>
              <a:buChar char="•"/>
            </a:pPr>
            <a:r>
              <a:rPr lang="en-US" sz="1250" dirty="0">
                <a:solidFill>
                  <a:schemeClr val="tx1"/>
                </a:solidFill>
              </a:rPr>
              <a:t>Cannot count: “which machines had the most bearing-related stops this year?”</a:t>
            </a:r>
            <a:endParaRPr lang="en-US" sz="1250" dirty="0"/>
          </a:p>
          <a:p>
            <a:pPr marL="342900" indent="-342900">
              <a:spcAft>
                <a:spcPts val="800"/>
              </a:spcAft>
              <a:buSzPct val="100000"/>
              <a:buChar char="•"/>
            </a:pPr>
            <a:r>
              <a:rPr lang="en-US" sz="1250" dirty="0">
                <a:solidFill>
                  <a:schemeClr val="tx1"/>
                </a:solidFill>
              </a:rPr>
              <a:t>Evidence is a text fragment; a person must work out which machine and which report</a:t>
            </a:r>
            <a:endParaRPr lang="en-US" sz="1250" dirty="0"/>
          </a:p>
          <a:p>
            <a:pPr marL="342900" indent="-342900">
              <a:spcAft>
                <a:spcPts val="800"/>
              </a:spcAft>
              <a:buSzPct val="100000"/>
              <a:buChar char="•"/>
            </a:pPr>
            <a:r>
              <a:rPr lang="en-US" sz="1250" dirty="0">
                <a:solidFill>
                  <a:schemeClr val="tx1"/>
                </a:solidFill>
              </a:rPr>
              <a:t>May infer a part number or lead time from context and state it as fact</a:t>
            </a:r>
            <a:endParaRPr lang="en-US" sz="1250" dirty="0"/>
          </a:p>
        </p:txBody>
      </p:sp>
      <p:sp>
        <p:nvSpPr>
          <p:cNvPr id="7" name="Shape 5"/>
          <p:cNvSpPr/>
          <p:nvPr/>
        </p:nvSpPr>
        <p:spPr>
          <a:xfrm>
            <a:off x="6277356" y="1645920"/>
            <a:ext cx="5408676" cy="4480560"/>
          </a:xfrm>
          <a:prstGeom prst="roundRect">
            <a:avLst>
              <a:gd name="adj" fmla="val 1633"/>
            </a:avLst>
          </a:prstGeom>
          <a:solidFill>
            <a:schemeClr val="bg2"/>
          </a:solidFill>
          <a:ln w="12700">
            <a:solidFill>
              <a:schemeClr val="bg2"/>
            </a:solidFill>
            <a:prstDash val="solid"/>
          </a:ln>
        </p:spPr>
      </p:sp>
      <p:sp>
        <p:nvSpPr>
          <p:cNvPr id="8" name="Text 6"/>
          <p:cNvSpPr txBox="1"/>
          <p:nvPr/>
        </p:nvSpPr>
        <p:spPr>
          <a:xfrm>
            <a:off x="6551676" y="1828800"/>
            <a:ext cx="4860036" cy="457200"/>
          </a:xfrm>
          <a:prstGeom prst="rect">
            <a:avLst/>
          </a:prstGeom>
          <a:noFill/>
          <a:ln/>
        </p:spPr>
        <p:txBody>
          <a:bodyPr wrap="square" lIns="0" tIns="0" rIns="0" bIns="0" rtlCol="0" anchor="t"/>
          <a:lstStyle/>
          <a:p>
            <a:pPr indent="0" marL="0">
              <a:buNone/>
            </a:pPr>
            <a:r>
              <a:rPr lang="en-US" sz="1500" b="1" dirty="0">
                <a:solidFill>
                  <a:schemeClr val="accent1"/>
                </a:solidFill>
              </a:rPr>
              <a:t>Knowledge graph + agent (ours)</a:t>
            </a:r>
            <a:endParaRPr lang="en-US" sz="1500" dirty="0"/>
          </a:p>
        </p:txBody>
      </p:sp>
      <p:sp>
        <p:nvSpPr>
          <p:cNvPr id="9" name="Text 7"/>
          <p:cNvSpPr txBox="1"/>
          <p:nvPr/>
        </p:nvSpPr>
        <p:spPr>
          <a:xfrm>
            <a:off x="6551676" y="2377440"/>
            <a:ext cx="4860036" cy="3657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Stores equipment, components, failure modes and work orders as things and relationships</a:t>
            </a:r>
            <a:endParaRPr lang="en-US" sz="1250" dirty="0"/>
          </a:p>
          <a:p>
            <a:pPr marL="342900" indent="-342900">
              <a:spcAft>
                <a:spcPts val="800"/>
              </a:spcAft>
              <a:buSzPct val="100000"/>
              <a:buChar char="•"/>
            </a:pPr>
            <a:r>
              <a:rPr lang="en-US" sz="1250" dirty="0">
                <a:solidFill>
                  <a:schemeClr val="tx1"/>
                </a:solidFill>
              </a:rPr>
              <a:t>Crosses lines through the model node: P-301 → CP-200 ← P-101</a:t>
            </a:r>
            <a:endParaRPr lang="en-US" sz="1250" dirty="0"/>
          </a:p>
          <a:p>
            <a:pPr marL="342900" indent="-342900">
              <a:spcAft>
                <a:spcPts val="800"/>
              </a:spcAft>
              <a:buSzPct val="100000"/>
              <a:buChar char="•"/>
            </a:pPr>
            <a:r>
              <a:rPr lang="en-US" sz="1250" dirty="0">
                <a:solidFill>
                  <a:schemeClr val="tx1"/>
                </a:solidFill>
              </a:rPr>
              <a:t>Aggregates by failure-mode category and date in one query</a:t>
            </a:r>
            <a:endParaRPr lang="en-US" sz="1250" dirty="0"/>
          </a:p>
          <a:p>
            <a:pPr marL="342900" indent="-342900">
              <a:spcAft>
                <a:spcPts val="800"/>
              </a:spcAft>
              <a:buSzPct val="100000"/>
              <a:buChar char="•"/>
            </a:pPr>
            <a:r>
              <a:rPr lang="en-US" sz="1250" dirty="0">
                <a:solidFill>
                  <a:schemeClr val="tx1"/>
                </a:solidFill>
              </a:rPr>
              <a:t>Evidence is work-order IDs, procedure IDs and manual pages, drawn as a sub-graph</a:t>
            </a:r>
            <a:endParaRPr lang="en-US" sz="1250" dirty="0"/>
          </a:p>
          <a:p>
            <a:pPr marL="342900" indent="-342900">
              <a:spcAft>
                <a:spcPts val="800"/>
              </a:spcAft>
              <a:buSzPct val="100000"/>
              <a:buChar char="•"/>
            </a:pPr>
            <a:r>
              <a:rPr lang="en-US" sz="1250" dirty="0">
                <a:solidFill>
                  <a:schemeClr val="tx1"/>
                </a:solidFill>
              </a:rPr>
              <a:t>Answers “no record” when the graph has nothing; never invents an ID</a:t>
            </a:r>
            <a:endParaRPr lang="en-US" sz="1250" dirty="0"/>
          </a:p>
        </p:txBody>
      </p:sp>
      <p:sp>
        <p:nvSpPr>
          <p:cNvPr id="10" name="Shape 8"/>
          <p:cNvSpPr/>
          <p:nvPr/>
        </p:nvSpPr>
        <p:spPr>
          <a:xfrm>
            <a:off x="5957316" y="3886200"/>
            <a:ext cx="274320" cy="0"/>
          </a:xfrm>
          <a:prstGeom prst="line">
            <a:avLst/>
          </a:prstGeom>
          <a:noFill/>
          <a:ln w="19050">
            <a:solidFill>
              <a:srgbClr val="2F54F7"/>
            </a:solidFill>
            <a:prstDash val="solid"/>
            <a:tailEnd type="triangle"/>
          </a:ln>
        </p:spPr>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2. The solution</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Vector search over the manuals finds where to start; the knowledge graph supplies the ranked answer, the next action and the evidence</a:t>
            </a:r>
            <a:endParaRPr lang="en-US" sz="2000" dirty="0"/>
          </a:p>
        </p:txBody>
      </p:sp>
      <p:sp>
        <p:nvSpPr>
          <p:cNvPr id="4" name="Text 2"/>
          <p:cNvSpPr txBox="1"/>
          <p:nvPr/>
        </p:nvSpPr>
        <p:spPr>
          <a:xfrm>
            <a:off x="502920" y="1600200"/>
            <a:ext cx="2377440" cy="320040"/>
          </a:xfrm>
          <a:prstGeom prst="rect">
            <a:avLst/>
          </a:prstGeom>
          <a:noFill/>
          <a:ln/>
        </p:spPr>
        <p:txBody>
          <a:bodyPr wrap="square" lIns="0" tIns="0" rIns="0" bIns="0" rtlCol="0" anchor="t"/>
          <a:lstStyle/>
          <a:p>
            <a:pPr indent="0" marL="0">
              <a:buNone/>
            </a:pPr>
            <a:r>
              <a:rPr lang="en-US" sz="1100" b="1" dirty="0">
                <a:solidFill>
                  <a:schemeClr val="tx2"/>
                </a:solidFill>
              </a:rPr>
              <a:t>A plant's existing data</a:t>
            </a:r>
            <a:endParaRPr lang="en-US" sz="1100" dirty="0"/>
          </a:p>
        </p:txBody>
      </p:sp>
      <p:sp>
        <p:nvSpPr>
          <p:cNvPr id="5" name="Shape 3"/>
          <p:cNvSpPr/>
          <p:nvPr/>
        </p:nvSpPr>
        <p:spPr>
          <a:xfrm>
            <a:off x="502920" y="1965960"/>
            <a:ext cx="2377440" cy="685800"/>
          </a:xfrm>
          <a:prstGeom prst="roundRect">
            <a:avLst>
              <a:gd name="adj" fmla="val 10667"/>
            </a:avLst>
          </a:prstGeom>
          <a:solidFill>
            <a:schemeClr val="accent3"/>
          </a:solidFill>
          <a:ln w="12700">
            <a:solidFill>
              <a:schemeClr val="accent3"/>
            </a:solidFill>
            <a:prstDash val="solid"/>
          </a:ln>
        </p:spPr>
      </p:sp>
      <p:sp>
        <p:nvSpPr>
          <p:cNvPr id="6" name="Shape 4"/>
          <p:cNvSpPr/>
          <p:nvPr/>
        </p:nvSpPr>
        <p:spPr>
          <a:xfrm>
            <a:off x="612648" y="2039112"/>
            <a:ext cx="530352" cy="530352"/>
          </a:xfrm>
          <a:prstGeom prst="ellipse">
            <a:avLst/>
          </a:prstGeom>
          <a:solidFill>
            <a:schemeClr val="bg1"/>
          </a:solidFill>
          <a:ln w="12700">
            <a:solidFill>
              <a:schemeClr val="bg1"/>
            </a:solidFill>
            <a:prstDash val="solid"/>
          </a:ln>
        </p:spPr>
      </p:sp>
      <p:pic>
        <p:nvPicPr>
          <p:cNvPr id="7" name="Image 0" descr="preencoded.png">    </p:cNvPr>
          <p:cNvPicPr>
            <a:picLocks noChangeAspect="1"/>
          </p:cNvPicPr>
          <p:nvPr/>
        </p:nvPicPr>
        <p:blipFill>
          <a:blip r:embed="rId1"/>
          <a:stretch>
            <a:fillRect/>
          </a:stretch>
        </p:blipFill>
        <p:spPr>
          <a:xfrm>
            <a:off x="729325" y="2155789"/>
            <a:ext cx="296997" cy="296997"/>
          </a:xfrm>
          <a:prstGeom prst="rect">
            <a:avLst/>
          </a:prstGeom>
        </p:spPr>
      </p:pic>
      <p:sp>
        <p:nvSpPr>
          <p:cNvPr id="8" name="Text 5"/>
          <p:cNvSpPr txBox="1"/>
          <p:nvPr/>
        </p:nvSpPr>
        <p:spPr>
          <a:xfrm>
            <a:off x="1280160" y="1965960"/>
            <a:ext cx="1554480" cy="685800"/>
          </a:xfrm>
          <a:prstGeom prst="rect">
            <a:avLst/>
          </a:prstGeom>
          <a:noFill/>
          <a:ln/>
        </p:spPr>
        <p:txBody>
          <a:bodyPr wrap="square" lIns="0" tIns="0" rIns="0" bIns="0" rtlCol="0" anchor="ctr"/>
          <a:lstStyle/>
          <a:p>
            <a:pPr indent="0" marL="0">
              <a:buNone/>
            </a:pPr>
            <a:r>
              <a:rPr lang="en-US" sz="1100" b="1" dirty="0">
                <a:solidFill>
                  <a:schemeClr val="tx1"/>
                </a:solidFill>
              </a:rPr>
              <a:t>Equipment register &amp; BOM</a:t>
            </a:r>
            <a:endParaRPr lang="en-US" sz="1100" dirty="0"/>
          </a:p>
        </p:txBody>
      </p:sp>
      <p:sp>
        <p:nvSpPr>
          <p:cNvPr id="9" name="Shape 6"/>
          <p:cNvSpPr/>
          <p:nvPr/>
        </p:nvSpPr>
        <p:spPr>
          <a:xfrm>
            <a:off x="502920" y="2834640"/>
            <a:ext cx="2377440" cy="685800"/>
          </a:xfrm>
          <a:prstGeom prst="roundRect">
            <a:avLst>
              <a:gd name="adj" fmla="val 10667"/>
            </a:avLst>
          </a:prstGeom>
          <a:solidFill>
            <a:schemeClr val="accent3"/>
          </a:solidFill>
          <a:ln w="12700">
            <a:solidFill>
              <a:schemeClr val="accent3"/>
            </a:solidFill>
            <a:prstDash val="solid"/>
          </a:ln>
        </p:spPr>
      </p:sp>
      <p:sp>
        <p:nvSpPr>
          <p:cNvPr id="10" name="Shape 7"/>
          <p:cNvSpPr/>
          <p:nvPr/>
        </p:nvSpPr>
        <p:spPr>
          <a:xfrm>
            <a:off x="612648" y="2907792"/>
            <a:ext cx="530352" cy="530352"/>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729325" y="3024469"/>
            <a:ext cx="296997" cy="296997"/>
          </a:xfrm>
          <a:prstGeom prst="rect">
            <a:avLst/>
          </a:prstGeom>
        </p:spPr>
      </p:pic>
      <p:sp>
        <p:nvSpPr>
          <p:cNvPr id="12" name="Text 8"/>
          <p:cNvSpPr txBox="1"/>
          <p:nvPr/>
        </p:nvSpPr>
        <p:spPr>
          <a:xfrm>
            <a:off x="1280160" y="2834640"/>
            <a:ext cx="1554480" cy="685800"/>
          </a:xfrm>
          <a:prstGeom prst="rect">
            <a:avLst/>
          </a:prstGeom>
          <a:noFill/>
          <a:ln/>
        </p:spPr>
        <p:txBody>
          <a:bodyPr wrap="square" lIns="0" tIns="0" rIns="0" bIns="0" rtlCol="0" anchor="ctr"/>
          <a:lstStyle/>
          <a:p>
            <a:pPr indent="0" marL="0">
              <a:buNone/>
            </a:pPr>
            <a:r>
              <a:rPr lang="en-US" sz="1100" b="1" dirty="0">
                <a:solidFill>
                  <a:schemeClr val="tx1"/>
                </a:solidFill>
              </a:rPr>
              <a:t>Work orders (CMMS)</a:t>
            </a:r>
            <a:endParaRPr lang="en-US" sz="1100" dirty="0"/>
          </a:p>
        </p:txBody>
      </p:sp>
      <p:sp>
        <p:nvSpPr>
          <p:cNvPr id="13" name="Shape 9"/>
          <p:cNvSpPr/>
          <p:nvPr/>
        </p:nvSpPr>
        <p:spPr>
          <a:xfrm>
            <a:off x="502920" y="3703320"/>
            <a:ext cx="2377440" cy="685800"/>
          </a:xfrm>
          <a:prstGeom prst="roundRect">
            <a:avLst>
              <a:gd name="adj" fmla="val 10667"/>
            </a:avLst>
          </a:prstGeom>
          <a:solidFill>
            <a:schemeClr val="accent3"/>
          </a:solidFill>
          <a:ln w="12700">
            <a:solidFill>
              <a:schemeClr val="accent3"/>
            </a:solidFill>
            <a:prstDash val="solid"/>
          </a:ln>
        </p:spPr>
      </p:sp>
      <p:sp>
        <p:nvSpPr>
          <p:cNvPr id="14" name="Shape 10"/>
          <p:cNvSpPr/>
          <p:nvPr/>
        </p:nvSpPr>
        <p:spPr>
          <a:xfrm>
            <a:off x="612648" y="3776472"/>
            <a:ext cx="530352" cy="530352"/>
          </a:xfrm>
          <a:prstGeom prst="ellipse">
            <a:avLst/>
          </a:prstGeom>
          <a:solidFill>
            <a:schemeClr val="bg1"/>
          </a:solidFill>
          <a:ln w="12700">
            <a:solidFill>
              <a:schemeClr val="bg1"/>
            </a:solidFill>
            <a:prstDash val="solid"/>
          </a:ln>
        </p:spPr>
      </p:sp>
      <p:pic>
        <p:nvPicPr>
          <p:cNvPr id="15" name="Image 2" descr="preencoded.png">    </p:cNvPr>
          <p:cNvPicPr>
            <a:picLocks noChangeAspect="1"/>
          </p:cNvPicPr>
          <p:nvPr/>
        </p:nvPicPr>
        <p:blipFill>
          <a:blip r:embed="rId3"/>
          <a:stretch>
            <a:fillRect/>
          </a:stretch>
        </p:blipFill>
        <p:spPr>
          <a:xfrm>
            <a:off x="729325" y="3893149"/>
            <a:ext cx="296997" cy="296997"/>
          </a:xfrm>
          <a:prstGeom prst="rect">
            <a:avLst/>
          </a:prstGeom>
        </p:spPr>
      </p:pic>
      <p:sp>
        <p:nvSpPr>
          <p:cNvPr id="16" name="Text 11"/>
          <p:cNvSpPr txBox="1"/>
          <p:nvPr/>
        </p:nvSpPr>
        <p:spPr>
          <a:xfrm>
            <a:off x="1280160" y="3703320"/>
            <a:ext cx="1554480" cy="685800"/>
          </a:xfrm>
          <a:prstGeom prst="rect">
            <a:avLst/>
          </a:prstGeom>
          <a:noFill/>
          <a:ln/>
        </p:spPr>
        <p:txBody>
          <a:bodyPr wrap="square" lIns="0" tIns="0" rIns="0" bIns="0" rtlCol="0" anchor="ctr"/>
          <a:lstStyle/>
          <a:p>
            <a:pPr indent="0" marL="0">
              <a:buNone/>
            </a:pPr>
            <a:r>
              <a:rPr lang="en-US" sz="1100" b="1" dirty="0">
                <a:solidFill>
                  <a:schemeClr val="tx1"/>
                </a:solidFill>
              </a:rPr>
              <a:t>Manuals (PDF)</a:t>
            </a:r>
            <a:endParaRPr lang="en-US" sz="1100" dirty="0"/>
          </a:p>
        </p:txBody>
      </p:sp>
      <p:sp>
        <p:nvSpPr>
          <p:cNvPr id="17" name="Shape 12"/>
          <p:cNvSpPr/>
          <p:nvPr/>
        </p:nvSpPr>
        <p:spPr>
          <a:xfrm>
            <a:off x="502920" y="4572000"/>
            <a:ext cx="2377440" cy="685800"/>
          </a:xfrm>
          <a:prstGeom prst="roundRect">
            <a:avLst>
              <a:gd name="adj" fmla="val 10667"/>
            </a:avLst>
          </a:prstGeom>
          <a:solidFill>
            <a:schemeClr val="accent3"/>
          </a:solidFill>
          <a:ln w="12700">
            <a:solidFill>
              <a:schemeClr val="accent3"/>
            </a:solidFill>
            <a:prstDash val="solid"/>
          </a:ln>
        </p:spPr>
      </p:sp>
      <p:sp>
        <p:nvSpPr>
          <p:cNvPr id="18" name="Shape 13"/>
          <p:cNvSpPr/>
          <p:nvPr/>
        </p:nvSpPr>
        <p:spPr>
          <a:xfrm>
            <a:off x="612648" y="4645152"/>
            <a:ext cx="530352" cy="530352"/>
          </a:xfrm>
          <a:prstGeom prst="ellipse">
            <a:avLst/>
          </a:prstGeom>
          <a:solidFill>
            <a:schemeClr val="bg1"/>
          </a:solidFill>
          <a:ln w="12700">
            <a:solidFill>
              <a:schemeClr val="bg1"/>
            </a:solidFill>
            <a:prstDash val="solid"/>
          </a:ln>
        </p:spPr>
      </p:sp>
      <p:pic>
        <p:nvPicPr>
          <p:cNvPr id="19" name="Image 3" descr="preencoded.png">    </p:cNvPr>
          <p:cNvPicPr>
            <a:picLocks noChangeAspect="1"/>
          </p:cNvPicPr>
          <p:nvPr/>
        </p:nvPicPr>
        <p:blipFill>
          <a:blip r:embed="rId4"/>
          <a:stretch>
            <a:fillRect/>
          </a:stretch>
        </p:blipFill>
        <p:spPr>
          <a:xfrm>
            <a:off x="729325" y="4761829"/>
            <a:ext cx="296997" cy="296997"/>
          </a:xfrm>
          <a:prstGeom prst="rect">
            <a:avLst/>
          </a:prstGeom>
        </p:spPr>
      </p:pic>
      <p:sp>
        <p:nvSpPr>
          <p:cNvPr id="20" name="Text 14"/>
          <p:cNvSpPr txBox="1"/>
          <p:nvPr/>
        </p:nvSpPr>
        <p:spPr>
          <a:xfrm>
            <a:off x="1280160" y="4572000"/>
            <a:ext cx="1554480" cy="685800"/>
          </a:xfrm>
          <a:prstGeom prst="rect">
            <a:avLst/>
          </a:prstGeom>
          <a:noFill/>
          <a:ln/>
        </p:spPr>
        <p:txBody>
          <a:bodyPr wrap="square" lIns="0" tIns="0" rIns="0" bIns="0" rtlCol="0" anchor="ctr"/>
          <a:lstStyle/>
          <a:p>
            <a:pPr indent="0" marL="0">
              <a:buNone/>
            </a:pPr>
            <a:r>
              <a:rPr lang="en-US" sz="1100" b="1" dirty="0">
                <a:solidFill>
                  <a:schemeClr val="tx1"/>
                </a:solidFill>
              </a:rPr>
              <a:t>Skills ledger · purchasing</a:t>
            </a:r>
            <a:endParaRPr lang="en-US" sz="1100" dirty="0"/>
          </a:p>
        </p:txBody>
      </p:sp>
      <p:sp>
        <p:nvSpPr>
          <p:cNvPr id="21" name="Shape 15"/>
          <p:cNvSpPr/>
          <p:nvPr/>
        </p:nvSpPr>
        <p:spPr>
          <a:xfrm>
            <a:off x="2971800" y="3566160"/>
            <a:ext cx="502920" cy="0"/>
          </a:xfrm>
          <a:prstGeom prst="line">
            <a:avLst/>
          </a:prstGeom>
          <a:noFill/>
          <a:ln w="19050">
            <a:solidFill>
              <a:srgbClr val="2F54F7"/>
            </a:solidFill>
            <a:prstDash val="solid"/>
            <a:tailEnd type="triangle"/>
          </a:ln>
        </p:spPr>
      </p:sp>
      <p:sp>
        <p:nvSpPr>
          <p:cNvPr id="22" name="Shape 16"/>
          <p:cNvSpPr/>
          <p:nvPr/>
        </p:nvSpPr>
        <p:spPr>
          <a:xfrm>
            <a:off x="3520440" y="1965960"/>
            <a:ext cx="1737360" cy="3246120"/>
          </a:xfrm>
          <a:prstGeom prst="roundRect">
            <a:avLst>
              <a:gd name="adj" fmla="val 4211"/>
            </a:avLst>
          </a:prstGeom>
          <a:solidFill>
            <a:schemeClr val="bg2"/>
          </a:solidFill>
          <a:ln w="12700">
            <a:solidFill>
              <a:schemeClr val="bg2"/>
            </a:solidFill>
            <a:prstDash val="solid"/>
          </a:ln>
        </p:spPr>
      </p:sp>
      <p:sp>
        <p:nvSpPr>
          <p:cNvPr id="23" name="Text 17"/>
          <p:cNvSpPr txBox="1"/>
          <p:nvPr/>
        </p:nvSpPr>
        <p:spPr>
          <a:xfrm>
            <a:off x="3611880" y="2103120"/>
            <a:ext cx="1554480" cy="2926080"/>
          </a:xfrm>
          <a:prstGeom prst="rect">
            <a:avLst/>
          </a:prstGeom>
          <a:noFill/>
          <a:ln/>
        </p:spPr>
        <p:txBody>
          <a:bodyPr wrap="square" lIns="0" tIns="0" rIns="0" bIns="0" rtlCol="0" anchor="ctr"/>
          <a:lstStyle/>
          <a:p>
            <a:pPr algn="ctr" indent="0" marL="0">
              <a:buNone/>
            </a:pPr>
            <a:r>
              <a:rPr lang="en-US" sz="1250" b="1" dirty="0">
                <a:solidFill>
                  <a:schemeClr val="tx1"/>
                </a:solidFill>
              </a:rPr>
              <a:t>Transform &amp; load</a:t>
            </a:r>
            <a:endParaRPr lang="en-US" sz="1250" dirty="0"/>
          </a:p>
          <a:p>
            <a:pPr algn="ctr" indent="0" marL="0">
              <a:buNone/>
            </a:pPr>
            <a:r>
              <a:rPr lang="en-US" sz="1050" dirty="0">
                <a:solidFill>
                  <a:schemeClr val="tx2"/>
                </a:solidFill>
              </a:rPr>
              <a:t>Normalise names, build the failure-mode dictionary, chunk manuals, embed with Gemini</a:t>
            </a:r>
            <a:endParaRPr lang="en-US" sz="1250" dirty="0"/>
          </a:p>
        </p:txBody>
      </p:sp>
      <p:sp>
        <p:nvSpPr>
          <p:cNvPr id="24" name="Shape 18"/>
          <p:cNvSpPr/>
          <p:nvPr/>
        </p:nvSpPr>
        <p:spPr>
          <a:xfrm>
            <a:off x="5303520" y="3566160"/>
            <a:ext cx="502920" cy="0"/>
          </a:xfrm>
          <a:prstGeom prst="line">
            <a:avLst/>
          </a:prstGeom>
          <a:noFill/>
          <a:ln w="19050">
            <a:solidFill>
              <a:srgbClr val="2F54F7"/>
            </a:solidFill>
            <a:prstDash val="solid"/>
            <a:tailEnd type="triangle"/>
          </a:ln>
        </p:spPr>
      </p:sp>
      <p:sp>
        <p:nvSpPr>
          <p:cNvPr id="25" name="Shape 19"/>
          <p:cNvSpPr/>
          <p:nvPr/>
        </p:nvSpPr>
        <p:spPr>
          <a:xfrm>
            <a:off x="5852160" y="1965960"/>
            <a:ext cx="2194560" cy="3246120"/>
          </a:xfrm>
          <a:prstGeom prst="roundRect">
            <a:avLst>
              <a:gd name="adj" fmla="val 3333"/>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6675120" y="2240280"/>
            <a:ext cx="548640" cy="548640"/>
          </a:xfrm>
          <a:prstGeom prst="rect">
            <a:avLst/>
          </a:prstGeom>
        </p:spPr>
      </p:pic>
      <p:sp>
        <p:nvSpPr>
          <p:cNvPr id="27" name="Text 20"/>
          <p:cNvSpPr txBox="1"/>
          <p:nvPr/>
        </p:nvSpPr>
        <p:spPr>
          <a:xfrm>
            <a:off x="5943600" y="2834640"/>
            <a:ext cx="2011680" cy="2194560"/>
          </a:xfrm>
          <a:prstGeom prst="rect">
            <a:avLst/>
          </a:prstGeom>
          <a:noFill/>
          <a:ln/>
        </p:spPr>
        <p:txBody>
          <a:bodyPr wrap="square" lIns="0" tIns="0" rIns="0" bIns="0" rtlCol="0" anchor="t"/>
          <a:lstStyle/>
          <a:p>
            <a:pPr algn="ctr" indent="0" marL="0">
              <a:buNone/>
            </a:pPr>
            <a:r>
              <a:rPr lang="en-US" sz="1250" b="1" dirty="0">
                <a:solidFill>
                  <a:schemeClr val="bg1"/>
                </a:solidFill>
              </a:rPr>
              <a:t>Ontology graph</a:t>
            </a:r>
            <a:endParaRPr lang="en-US" sz="1250" dirty="0"/>
          </a:p>
          <a:p>
            <a:pPr algn="ctr" indent="0" marL="0">
              <a:buNone/>
            </a:pPr>
            <a:r>
              <a:rPr lang="en-US" sz="1250" dirty="0">
                <a:solidFill>
                  <a:schemeClr val="bg1"/>
                </a:solidFill>
              </a:rPr>
              <a:t>Neo4j AuraDB</a:t>
            </a:r>
            <a:endParaRPr lang="en-US" sz="1250" dirty="0"/>
          </a:p>
          <a:p>
            <a:pPr algn="ctr" indent="0" marL="0">
              <a:buNone/>
            </a:pPr>
            <a:r>
              <a:rPr lang="en-US" sz="1050" dirty="0">
                <a:solidFill>
                  <a:schemeClr val="bg1"/>
                </a:solidFill>
              </a:rPr>
              <a:t>Equipment · components · failure modes · symptoms · work orders · procedures · parts · people · manual chunks with a vector index</a:t>
            </a:r>
            <a:endParaRPr lang="en-US" sz="1250" dirty="0"/>
          </a:p>
        </p:txBody>
      </p:sp>
      <p:sp>
        <p:nvSpPr>
          <p:cNvPr id="28" name="Shape 21"/>
          <p:cNvSpPr/>
          <p:nvPr/>
        </p:nvSpPr>
        <p:spPr>
          <a:xfrm>
            <a:off x="8092440" y="3566160"/>
            <a:ext cx="502920" cy="0"/>
          </a:xfrm>
          <a:prstGeom prst="line">
            <a:avLst/>
          </a:prstGeom>
          <a:noFill/>
          <a:ln w="19050">
            <a:solidFill>
              <a:srgbClr val="2F54F7"/>
            </a:solidFill>
            <a:prstDash val="solid"/>
            <a:tailEnd type="triangle"/>
          </a:ln>
        </p:spPr>
      </p:sp>
      <p:sp>
        <p:nvSpPr>
          <p:cNvPr id="29" name="Shape 22"/>
          <p:cNvSpPr/>
          <p:nvPr/>
        </p:nvSpPr>
        <p:spPr>
          <a:xfrm>
            <a:off x="8641080" y="1965960"/>
            <a:ext cx="3044952" cy="3246120"/>
          </a:xfrm>
          <a:prstGeom prst="roundRect">
            <a:avLst>
              <a:gd name="adj" fmla="val 2402"/>
            </a:avLst>
          </a:prstGeom>
          <a:solidFill>
            <a:schemeClr val="bg2"/>
          </a:solidFill>
          <a:ln w="12700">
            <a:solidFill>
              <a:schemeClr val="bg2"/>
            </a:solidFill>
            <a:prstDash val="solid"/>
          </a:ln>
        </p:spPr>
      </p:sp>
      <p:pic>
        <p:nvPicPr>
          <p:cNvPr id="30" name="Image 5" descr="preencoded.png">    </p:cNvPr>
          <p:cNvPicPr>
            <a:picLocks noChangeAspect="1"/>
          </p:cNvPicPr>
          <p:nvPr/>
        </p:nvPicPr>
        <p:blipFill>
          <a:blip r:embed="rId6"/>
          <a:stretch>
            <a:fillRect/>
          </a:stretch>
        </p:blipFill>
        <p:spPr>
          <a:xfrm>
            <a:off x="9875520" y="2194560"/>
            <a:ext cx="548640" cy="548640"/>
          </a:xfrm>
          <a:prstGeom prst="rect">
            <a:avLst/>
          </a:prstGeom>
        </p:spPr>
      </p:pic>
      <p:sp>
        <p:nvSpPr>
          <p:cNvPr id="31" name="Text 23"/>
          <p:cNvSpPr txBox="1"/>
          <p:nvPr/>
        </p:nvSpPr>
        <p:spPr>
          <a:xfrm>
            <a:off x="8778240" y="2788920"/>
            <a:ext cx="2743200" cy="2286000"/>
          </a:xfrm>
          <a:prstGeom prst="rect">
            <a:avLst/>
          </a:prstGeom>
          <a:noFill/>
          <a:ln/>
        </p:spPr>
        <p:txBody>
          <a:bodyPr wrap="square" lIns="0" tIns="0" rIns="0" bIns="0" rtlCol="0" anchor="t"/>
          <a:lstStyle/>
          <a:p>
            <a:pPr algn="ctr" indent="0" marL="0">
              <a:buNone/>
            </a:pPr>
            <a:r>
              <a:rPr lang="en-US" sz="1250" b="1" dirty="0">
                <a:solidFill>
                  <a:schemeClr val="tx1"/>
                </a:solidFill>
              </a:rPr>
              <a:t>Gemini agent (ADK)</a:t>
            </a:r>
            <a:endParaRPr lang="en-US" sz="1250" dirty="0"/>
          </a:p>
          <a:p>
            <a:pPr algn="ctr" indent="0" marL="0">
              <a:buNone/>
            </a:pPr>
            <a:r>
              <a:rPr lang="en-US" sz="1050" dirty="0">
                <a:solidFill>
                  <a:schemeClr val="tx1"/>
                </a:solidFill>
              </a:rPr>
              <a:t>Three read-only tools: semantic manual search, keyword search, Cypher</a:t>
            </a:r>
            <a:endParaRPr lang="en-US" sz="1250" dirty="0"/>
          </a:p>
          <a:p>
            <a:pPr algn="ctr" indent="0" marL="0">
              <a:buNone/>
            </a:pPr>
            <a:endParaRPr lang="en-US" sz="1250" dirty="0"/>
          </a:p>
          <a:p>
            <a:pPr algn="ctr" indent="0" marL="0">
              <a:buNone/>
            </a:pPr>
            <a:r>
              <a:rPr lang="en-US" sz="1050" dirty="0">
                <a:solidFill>
                  <a:schemeClr val="tx1"/>
                </a:solidFill>
              </a:rPr>
              <a:t>Answers in a fixed format: conclusion · ranked causes · action · evidence IDs</a:t>
            </a:r>
            <a:endParaRPr lang="en-US" sz="1250" dirty="0"/>
          </a:p>
        </p:txBody>
      </p:sp>
      <p:sp>
        <p:nvSpPr>
          <p:cNvPr id="32" name="Shape 24"/>
          <p:cNvSpPr/>
          <p:nvPr/>
        </p:nvSpPr>
        <p:spPr>
          <a:xfrm>
            <a:off x="502920" y="5440680"/>
            <a:ext cx="11183112" cy="868680"/>
          </a:xfrm>
          <a:prstGeom prst="roundRect">
            <a:avLst>
              <a:gd name="adj" fmla="val 8421"/>
            </a:avLst>
          </a:prstGeom>
          <a:solidFill>
            <a:schemeClr val="accent3"/>
          </a:solidFill>
          <a:ln w="12700">
            <a:solidFill>
              <a:schemeClr val="accent3"/>
            </a:solidFill>
            <a:prstDash val="solid"/>
          </a:ln>
        </p:spPr>
      </p:sp>
      <p:sp>
        <p:nvSpPr>
          <p:cNvPr id="33" name="Text 25"/>
          <p:cNvSpPr txBox="1"/>
          <p:nvPr/>
        </p:nvSpPr>
        <p:spPr>
          <a:xfrm>
            <a:off x="777240" y="5532120"/>
            <a:ext cx="10634472" cy="731520"/>
          </a:xfrm>
          <a:prstGeom prst="rect">
            <a:avLst/>
          </a:prstGeom>
          <a:noFill/>
          <a:ln/>
        </p:spPr>
        <p:txBody>
          <a:bodyPr wrap="square" lIns="0" tIns="0" rIns="0" bIns="0" rtlCol="0" anchor="ctr"/>
          <a:lstStyle/>
          <a:p>
            <a:pPr indent="0" marL="0">
              <a:buNone/>
            </a:pPr>
            <a:r>
              <a:rPr lang="en-US" sz="1150" b="1" dirty="0">
                <a:solidFill>
                  <a:schemeClr val="accent1"/>
                </a:solidFill>
              </a:rPr>
              <a:t>Three mechanisms   </a:t>
            </a:r>
            <a:pPr indent="0" marL="0">
              <a:buNone/>
            </a:pPr>
            <a:r>
              <a:rPr lang="en-US" sz="1150" dirty="0">
                <a:solidFill>
                  <a:schemeClr val="tx1"/>
                </a:solidFill>
              </a:rPr>
              <a:t>1  Vector search picks the entry point (a manual passage linked to failure modes).   2  The graph walk delivers the answer: causes ranked by history, procedure, parts in stock, certified people.   3  Every ID in the answer is a node the user can inspect on screen.</a:t>
            </a:r>
            <a:endParaRPr lang="en-US" sz="115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2. The solution</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Twelve node types and seventeen relationships, with the failure mode as the hub, cover diagnosis, history, the procedure, parts and people in one walk</a:t>
            </a:r>
            <a:endParaRPr lang="en-US" sz="2000" dirty="0"/>
          </a:p>
        </p:txBody>
      </p:sp>
      <p:sp>
        <p:nvSpPr>
          <p:cNvPr id="4" name="Shape 2"/>
          <p:cNvSpPr/>
          <p:nvPr/>
        </p:nvSpPr>
        <p:spPr>
          <a:xfrm>
            <a:off x="1691640" y="4672584"/>
            <a:ext cx="9144" cy="1143000"/>
          </a:xfrm>
          <a:prstGeom prst="line">
            <a:avLst/>
          </a:prstGeom>
          <a:noFill/>
          <a:ln w="12700">
            <a:solidFill>
              <a:srgbClr val="B9C2CC"/>
            </a:solidFill>
            <a:prstDash val="solid"/>
          </a:ln>
        </p:spPr>
      </p:sp>
      <p:sp>
        <p:nvSpPr>
          <p:cNvPr id="5" name="Text 3"/>
          <p:cNvSpPr txBox="1"/>
          <p:nvPr/>
        </p:nvSpPr>
        <p:spPr>
          <a:xfrm>
            <a:off x="868680" y="508863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HAS_EQUIPMENT</a:t>
            </a:r>
            <a:endParaRPr lang="en-US" sz="700" dirty="0"/>
          </a:p>
        </p:txBody>
      </p:sp>
      <p:sp>
        <p:nvSpPr>
          <p:cNvPr id="6" name="Shape 4"/>
          <p:cNvSpPr/>
          <p:nvPr/>
        </p:nvSpPr>
        <p:spPr>
          <a:xfrm>
            <a:off x="1691640" y="2112264"/>
            <a:ext cx="9144" cy="2560320"/>
          </a:xfrm>
          <a:prstGeom prst="line">
            <a:avLst/>
          </a:prstGeom>
          <a:noFill/>
          <a:ln w="12700">
            <a:solidFill>
              <a:srgbClr val="B9C2CC"/>
            </a:solidFill>
            <a:prstDash val="solid"/>
          </a:ln>
        </p:spPr>
      </p:sp>
      <p:sp>
        <p:nvSpPr>
          <p:cNvPr id="7" name="Text 5"/>
          <p:cNvSpPr txBox="1"/>
          <p:nvPr/>
        </p:nvSpPr>
        <p:spPr>
          <a:xfrm>
            <a:off x="868680" y="323697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OF_MODEL</a:t>
            </a:r>
            <a:endParaRPr lang="en-US" sz="700" dirty="0"/>
          </a:p>
        </p:txBody>
      </p:sp>
      <p:sp>
        <p:nvSpPr>
          <p:cNvPr id="8" name="Shape 6"/>
          <p:cNvSpPr/>
          <p:nvPr/>
        </p:nvSpPr>
        <p:spPr>
          <a:xfrm>
            <a:off x="1691640" y="2112264"/>
            <a:ext cx="2377440" cy="9144"/>
          </a:xfrm>
          <a:prstGeom prst="line">
            <a:avLst/>
          </a:prstGeom>
          <a:noFill/>
          <a:ln w="12700">
            <a:solidFill>
              <a:srgbClr val="B9C2CC"/>
            </a:solidFill>
            <a:prstDash val="solid"/>
          </a:ln>
        </p:spPr>
      </p:sp>
      <p:sp>
        <p:nvSpPr>
          <p:cNvPr id="9" name="Text 7"/>
          <p:cNvSpPr txBox="1"/>
          <p:nvPr/>
        </p:nvSpPr>
        <p:spPr>
          <a:xfrm>
            <a:off x="2057400" y="195681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HAS_COMPONENT</a:t>
            </a:r>
            <a:endParaRPr lang="en-US" sz="700" dirty="0"/>
          </a:p>
        </p:txBody>
      </p:sp>
      <p:sp>
        <p:nvSpPr>
          <p:cNvPr id="10" name="Shape 8"/>
          <p:cNvSpPr/>
          <p:nvPr/>
        </p:nvSpPr>
        <p:spPr>
          <a:xfrm>
            <a:off x="4069080" y="2112264"/>
            <a:ext cx="9144" cy="1280160"/>
          </a:xfrm>
          <a:prstGeom prst="line">
            <a:avLst/>
          </a:prstGeom>
          <a:noFill/>
          <a:ln w="12700">
            <a:solidFill>
              <a:srgbClr val="B9C2CC"/>
            </a:solidFill>
            <a:prstDash val="solid"/>
          </a:ln>
        </p:spPr>
      </p:sp>
      <p:sp>
        <p:nvSpPr>
          <p:cNvPr id="11" name="Text 9"/>
          <p:cNvSpPr txBox="1"/>
          <p:nvPr/>
        </p:nvSpPr>
        <p:spPr>
          <a:xfrm>
            <a:off x="3246120" y="259689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HAS_FAILURE_MODE</a:t>
            </a:r>
            <a:endParaRPr lang="en-US" sz="700" dirty="0"/>
          </a:p>
        </p:txBody>
      </p:sp>
      <p:sp>
        <p:nvSpPr>
          <p:cNvPr id="12" name="Shape 10"/>
          <p:cNvSpPr/>
          <p:nvPr/>
        </p:nvSpPr>
        <p:spPr>
          <a:xfrm>
            <a:off x="1691640" y="3392424"/>
            <a:ext cx="2377440" cy="9144"/>
          </a:xfrm>
          <a:prstGeom prst="line">
            <a:avLst/>
          </a:prstGeom>
          <a:noFill/>
          <a:ln w="12700">
            <a:solidFill>
              <a:srgbClr val="B9C2CC"/>
            </a:solidFill>
            <a:prstDash val="solid"/>
          </a:ln>
        </p:spPr>
      </p:sp>
      <p:sp>
        <p:nvSpPr>
          <p:cNvPr id="13" name="Text 11"/>
          <p:cNvSpPr txBox="1"/>
          <p:nvPr/>
        </p:nvSpPr>
        <p:spPr>
          <a:xfrm>
            <a:off x="2057400" y="323697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HAS_SYMPTOM</a:t>
            </a:r>
            <a:endParaRPr lang="en-US" sz="700" dirty="0"/>
          </a:p>
        </p:txBody>
      </p:sp>
      <p:sp>
        <p:nvSpPr>
          <p:cNvPr id="14" name="Shape 12"/>
          <p:cNvSpPr/>
          <p:nvPr/>
        </p:nvSpPr>
        <p:spPr>
          <a:xfrm flipV="1">
            <a:off x="4069080" y="2112264"/>
            <a:ext cx="2377440" cy="1280160"/>
          </a:xfrm>
          <a:prstGeom prst="line">
            <a:avLst/>
          </a:prstGeom>
          <a:noFill/>
          <a:ln w="12700">
            <a:solidFill>
              <a:srgbClr val="B9C2CC"/>
            </a:solidFill>
            <a:prstDash val="solid"/>
          </a:ln>
        </p:spPr>
      </p:sp>
      <p:sp>
        <p:nvSpPr>
          <p:cNvPr id="15" name="Text 13"/>
          <p:cNvSpPr txBox="1"/>
          <p:nvPr/>
        </p:nvSpPr>
        <p:spPr>
          <a:xfrm>
            <a:off x="4434840" y="259689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DIAGNOSED</a:t>
            </a:r>
            <a:endParaRPr lang="en-US" sz="700" dirty="0"/>
          </a:p>
        </p:txBody>
      </p:sp>
      <p:sp>
        <p:nvSpPr>
          <p:cNvPr id="16" name="Shape 14"/>
          <p:cNvSpPr/>
          <p:nvPr/>
        </p:nvSpPr>
        <p:spPr>
          <a:xfrm flipV="1">
            <a:off x="1691640" y="2112264"/>
            <a:ext cx="4754880" cy="2560320"/>
          </a:xfrm>
          <a:prstGeom prst="line">
            <a:avLst/>
          </a:prstGeom>
          <a:noFill/>
          <a:ln w="12700">
            <a:solidFill>
              <a:srgbClr val="B9C2CC"/>
            </a:solidFill>
            <a:prstDash val="solid"/>
          </a:ln>
        </p:spPr>
      </p:sp>
      <p:sp>
        <p:nvSpPr>
          <p:cNvPr id="17" name="Text 15"/>
          <p:cNvSpPr txBox="1"/>
          <p:nvPr/>
        </p:nvSpPr>
        <p:spPr>
          <a:xfrm>
            <a:off x="3246120" y="323697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ON_EQUIPMENT</a:t>
            </a:r>
            <a:endParaRPr lang="en-US" sz="700" dirty="0"/>
          </a:p>
        </p:txBody>
      </p:sp>
      <p:sp>
        <p:nvSpPr>
          <p:cNvPr id="18" name="Shape 16"/>
          <p:cNvSpPr/>
          <p:nvPr/>
        </p:nvSpPr>
        <p:spPr>
          <a:xfrm>
            <a:off x="4069080" y="3392424"/>
            <a:ext cx="2377440" cy="1280160"/>
          </a:xfrm>
          <a:prstGeom prst="line">
            <a:avLst/>
          </a:prstGeom>
          <a:noFill/>
          <a:ln w="12700">
            <a:solidFill>
              <a:srgbClr val="B9C2CC"/>
            </a:solidFill>
            <a:prstDash val="solid"/>
          </a:ln>
        </p:spPr>
      </p:sp>
      <p:sp>
        <p:nvSpPr>
          <p:cNvPr id="19" name="Text 17"/>
          <p:cNvSpPr txBox="1"/>
          <p:nvPr/>
        </p:nvSpPr>
        <p:spPr>
          <a:xfrm>
            <a:off x="4434840" y="387705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RESOLVES</a:t>
            </a:r>
            <a:endParaRPr lang="en-US" sz="700" dirty="0"/>
          </a:p>
        </p:txBody>
      </p:sp>
      <p:sp>
        <p:nvSpPr>
          <p:cNvPr id="20" name="Shape 18"/>
          <p:cNvSpPr/>
          <p:nvPr/>
        </p:nvSpPr>
        <p:spPr>
          <a:xfrm>
            <a:off x="6446520" y="2112264"/>
            <a:ext cx="9144" cy="2560320"/>
          </a:xfrm>
          <a:prstGeom prst="line">
            <a:avLst/>
          </a:prstGeom>
          <a:noFill/>
          <a:ln w="12700">
            <a:solidFill>
              <a:srgbClr val="B9C2CC"/>
            </a:solidFill>
            <a:prstDash val="solid"/>
          </a:ln>
        </p:spPr>
      </p:sp>
      <p:sp>
        <p:nvSpPr>
          <p:cNvPr id="21" name="Text 19"/>
          <p:cNvSpPr txBox="1"/>
          <p:nvPr/>
        </p:nvSpPr>
        <p:spPr>
          <a:xfrm>
            <a:off x="5623560" y="323697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PERFORMED</a:t>
            </a:r>
            <a:endParaRPr lang="en-US" sz="700" dirty="0"/>
          </a:p>
        </p:txBody>
      </p:sp>
      <p:sp>
        <p:nvSpPr>
          <p:cNvPr id="22" name="Shape 20"/>
          <p:cNvSpPr/>
          <p:nvPr/>
        </p:nvSpPr>
        <p:spPr>
          <a:xfrm>
            <a:off x="6446520" y="2112264"/>
            <a:ext cx="2377440" cy="9144"/>
          </a:xfrm>
          <a:prstGeom prst="line">
            <a:avLst/>
          </a:prstGeom>
          <a:noFill/>
          <a:ln w="12700">
            <a:solidFill>
              <a:srgbClr val="B9C2CC"/>
            </a:solidFill>
            <a:prstDash val="solid"/>
          </a:ln>
        </p:spPr>
      </p:sp>
      <p:sp>
        <p:nvSpPr>
          <p:cNvPr id="23" name="Text 21"/>
          <p:cNvSpPr txBox="1"/>
          <p:nvPr/>
        </p:nvSpPr>
        <p:spPr>
          <a:xfrm>
            <a:off x="6812280" y="195681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PERFORMED_BY</a:t>
            </a:r>
            <a:endParaRPr lang="en-US" sz="700" dirty="0"/>
          </a:p>
        </p:txBody>
      </p:sp>
      <p:sp>
        <p:nvSpPr>
          <p:cNvPr id="24" name="Shape 22"/>
          <p:cNvSpPr/>
          <p:nvPr/>
        </p:nvSpPr>
        <p:spPr>
          <a:xfrm>
            <a:off x="6446520" y="4672584"/>
            <a:ext cx="2377440" cy="9144"/>
          </a:xfrm>
          <a:prstGeom prst="line">
            <a:avLst/>
          </a:prstGeom>
          <a:noFill/>
          <a:ln w="12700">
            <a:solidFill>
              <a:srgbClr val="B9C2CC"/>
            </a:solidFill>
            <a:prstDash val="solid"/>
          </a:ln>
        </p:spPr>
      </p:sp>
      <p:sp>
        <p:nvSpPr>
          <p:cNvPr id="25" name="Text 23"/>
          <p:cNvSpPr txBox="1"/>
          <p:nvPr/>
        </p:nvSpPr>
        <p:spPr>
          <a:xfrm>
            <a:off x="6812280" y="451713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REQUIRES_PART</a:t>
            </a:r>
            <a:endParaRPr lang="en-US" sz="700" dirty="0"/>
          </a:p>
        </p:txBody>
      </p:sp>
      <p:sp>
        <p:nvSpPr>
          <p:cNvPr id="26" name="Shape 24"/>
          <p:cNvSpPr/>
          <p:nvPr/>
        </p:nvSpPr>
        <p:spPr>
          <a:xfrm>
            <a:off x="8823960" y="4672584"/>
            <a:ext cx="2011680" cy="9144"/>
          </a:xfrm>
          <a:prstGeom prst="line">
            <a:avLst/>
          </a:prstGeom>
          <a:noFill/>
          <a:ln w="12700">
            <a:solidFill>
              <a:srgbClr val="B9C2CC"/>
            </a:solidFill>
            <a:prstDash val="solid"/>
          </a:ln>
        </p:spPr>
      </p:sp>
      <p:sp>
        <p:nvSpPr>
          <p:cNvPr id="27" name="Text 25"/>
          <p:cNvSpPr txBox="1"/>
          <p:nvPr/>
        </p:nvSpPr>
        <p:spPr>
          <a:xfrm>
            <a:off x="9006840" y="451713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SUPPLIED_BY</a:t>
            </a:r>
            <a:endParaRPr lang="en-US" sz="700" dirty="0"/>
          </a:p>
        </p:txBody>
      </p:sp>
      <p:sp>
        <p:nvSpPr>
          <p:cNvPr id="28" name="Shape 26"/>
          <p:cNvSpPr/>
          <p:nvPr/>
        </p:nvSpPr>
        <p:spPr>
          <a:xfrm>
            <a:off x="4069080" y="3392424"/>
            <a:ext cx="9144" cy="1280160"/>
          </a:xfrm>
          <a:prstGeom prst="line">
            <a:avLst/>
          </a:prstGeom>
          <a:noFill/>
          <a:ln w="12700">
            <a:solidFill>
              <a:srgbClr val="B9C2CC"/>
            </a:solidFill>
            <a:prstDash val="solid"/>
          </a:ln>
        </p:spPr>
      </p:sp>
      <p:sp>
        <p:nvSpPr>
          <p:cNvPr id="29" name="Text 27"/>
          <p:cNvSpPr txBox="1"/>
          <p:nvPr/>
        </p:nvSpPr>
        <p:spPr>
          <a:xfrm>
            <a:off x="3246120" y="3877056"/>
            <a:ext cx="1645920" cy="228600"/>
          </a:xfrm>
          <a:prstGeom prst="rect">
            <a:avLst/>
          </a:prstGeom>
          <a:noFill/>
          <a:ln/>
        </p:spPr>
        <p:txBody>
          <a:bodyPr wrap="square" lIns="0" tIns="0" rIns="0" bIns="0" rtlCol="0" anchor="t"/>
          <a:lstStyle/>
          <a:p>
            <a:pPr algn="ctr" indent="0" marL="0">
              <a:buNone/>
            </a:pPr>
            <a:r>
              <a:rPr lang="en-US" sz="700" dirty="0">
                <a:solidFill>
                  <a:schemeClr val="tx2"/>
                </a:solidFill>
                <a:latin typeface="Menlo" pitchFamily="34" charset="0"/>
                <a:ea typeface="Menlo" pitchFamily="34" charset="-122"/>
                <a:cs typeface="Menlo" pitchFamily="34" charset="-120"/>
              </a:rPr>
              <a:t>MENTIONS</a:t>
            </a:r>
            <a:endParaRPr lang="en-US" sz="700" dirty="0"/>
          </a:p>
        </p:txBody>
      </p:sp>
      <p:sp>
        <p:nvSpPr>
          <p:cNvPr id="30" name="Shape 28"/>
          <p:cNvSpPr/>
          <p:nvPr/>
        </p:nvSpPr>
        <p:spPr>
          <a:xfrm>
            <a:off x="914400" y="1828800"/>
            <a:ext cx="1554480" cy="566928"/>
          </a:xfrm>
          <a:prstGeom prst="roundRect">
            <a:avLst>
              <a:gd name="adj" fmla="val 9677"/>
            </a:avLst>
          </a:prstGeom>
          <a:solidFill>
            <a:schemeClr val="bg2"/>
          </a:solidFill>
          <a:ln w="12700">
            <a:solidFill>
              <a:srgbClr val="2F54F7"/>
            </a:solidFill>
            <a:prstDash val="solid"/>
          </a:ln>
        </p:spPr>
      </p:sp>
      <p:sp>
        <p:nvSpPr>
          <p:cNvPr id="31" name="Text 29"/>
          <p:cNvSpPr txBox="1"/>
          <p:nvPr/>
        </p:nvSpPr>
        <p:spPr>
          <a:xfrm>
            <a:off x="914400" y="182880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Model</a:t>
            </a:r>
            <a:endParaRPr lang="en-US" sz="1050" dirty="0"/>
          </a:p>
          <a:p>
            <a:pPr algn="ctr" indent="0" marL="0">
              <a:buNone/>
            </a:pPr>
            <a:r>
              <a:rPr lang="en-US" sz="900" dirty="0">
                <a:solidFill>
                  <a:schemeClr val="tx1"/>
                </a:solidFill>
              </a:rPr>
              <a:t>CP-200</a:t>
            </a:r>
            <a:endParaRPr lang="en-US" sz="1050" dirty="0"/>
          </a:p>
        </p:txBody>
      </p:sp>
      <p:sp>
        <p:nvSpPr>
          <p:cNvPr id="32" name="Shape 30"/>
          <p:cNvSpPr/>
          <p:nvPr/>
        </p:nvSpPr>
        <p:spPr>
          <a:xfrm>
            <a:off x="3291840" y="1828800"/>
            <a:ext cx="1554480" cy="566928"/>
          </a:xfrm>
          <a:prstGeom prst="roundRect">
            <a:avLst>
              <a:gd name="adj" fmla="val 9677"/>
            </a:avLst>
          </a:prstGeom>
          <a:solidFill>
            <a:schemeClr val="bg2"/>
          </a:solidFill>
          <a:ln w="12700">
            <a:solidFill>
              <a:srgbClr val="2F54F7"/>
            </a:solidFill>
            <a:prstDash val="solid"/>
          </a:ln>
        </p:spPr>
      </p:sp>
      <p:sp>
        <p:nvSpPr>
          <p:cNvPr id="33" name="Text 31"/>
          <p:cNvSpPr txBox="1"/>
          <p:nvPr/>
        </p:nvSpPr>
        <p:spPr>
          <a:xfrm>
            <a:off x="3291840" y="182880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Component</a:t>
            </a:r>
            <a:endParaRPr lang="en-US" sz="1050" dirty="0"/>
          </a:p>
          <a:p>
            <a:pPr algn="ctr" indent="0" marL="0">
              <a:buNone/>
            </a:pPr>
            <a:r>
              <a:rPr lang="en-US" sz="900" dirty="0">
                <a:solidFill>
                  <a:schemeClr val="tx1"/>
                </a:solidFill>
              </a:rPr>
              <a:t>main shaft bearing</a:t>
            </a:r>
            <a:endParaRPr lang="en-US" sz="1050" dirty="0"/>
          </a:p>
        </p:txBody>
      </p:sp>
      <p:sp>
        <p:nvSpPr>
          <p:cNvPr id="34" name="Shape 32"/>
          <p:cNvSpPr/>
          <p:nvPr/>
        </p:nvSpPr>
        <p:spPr>
          <a:xfrm>
            <a:off x="5669280" y="1828800"/>
            <a:ext cx="1554480" cy="566928"/>
          </a:xfrm>
          <a:prstGeom prst="roundRect">
            <a:avLst>
              <a:gd name="adj" fmla="val 9677"/>
            </a:avLst>
          </a:prstGeom>
          <a:solidFill>
            <a:schemeClr val="bg2"/>
          </a:solidFill>
          <a:ln w="12700">
            <a:solidFill>
              <a:srgbClr val="2F54F7"/>
            </a:solidFill>
            <a:prstDash val="solid"/>
          </a:ln>
        </p:spPr>
      </p:sp>
      <p:sp>
        <p:nvSpPr>
          <p:cNvPr id="35" name="Text 33"/>
          <p:cNvSpPr txBox="1"/>
          <p:nvPr/>
        </p:nvSpPr>
        <p:spPr>
          <a:xfrm>
            <a:off x="5669280" y="182880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Work order</a:t>
            </a:r>
            <a:endParaRPr lang="en-US" sz="1050" dirty="0"/>
          </a:p>
          <a:p>
            <a:pPr algn="ctr" indent="0" marL="0">
              <a:buNone/>
            </a:pPr>
            <a:r>
              <a:rPr lang="en-US" sz="900" dirty="0">
                <a:solidFill>
                  <a:schemeClr val="tx1"/>
                </a:solidFill>
              </a:rPr>
              <a:t>WO-2026-020 · 6 cases</a:t>
            </a:r>
            <a:endParaRPr lang="en-US" sz="1050" dirty="0"/>
          </a:p>
        </p:txBody>
      </p:sp>
      <p:sp>
        <p:nvSpPr>
          <p:cNvPr id="36" name="Shape 34"/>
          <p:cNvSpPr/>
          <p:nvPr/>
        </p:nvSpPr>
        <p:spPr>
          <a:xfrm>
            <a:off x="8046720" y="1828800"/>
            <a:ext cx="1554480" cy="566928"/>
          </a:xfrm>
          <a:prstGeom prst="roundRect">
            <a:avLst>
              <a:gd name="adj" fmla="val 9677"/>
            </a:avLst>
          </a:prstGeom>
          <a:solidFill>
            <a:schemeClr val="bg2"/>
          </a:solidFill>
          <a:ln w="12700">
            <a:solidFill>
              <a:srgbClr val="2F54F7"/>
            </a:solidFill>
            <a:prstDash val="solid"/>
          </a:ln>
        </p:spPr>
      </p:sp>
      <p:sp>
        <p:nvSpPr>
          <p:cNvPr id="37" name="Text 35"/>
          <p:cNvSpPr txBox="1"/>
          <p:nvPr/>
        </p:nvSpPr>
        <p:spPr>
          <a:xfrm>
            <a:off x="8046720" y="182880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Technician</a:t>
            </a:r>
            <a:endParaRPr lang="en-US" sz="1050" dirty="0"/>
          </a:p>
          <a:p>
            <a:pPr algn="ctr" indent="0" marL="0">
              <a:buNone/>
            </a:pPr>
            <a:r>
              <a:rPr lang="en-US" sz="900" dirty="0">
                <a:solidFill>
                  <a:schemeClr val="tx1"/>
                </a:solidFill>
              </a:rPr>
              <a:t>cert: rotating machinery</a:t>
            </a:r>
            <a:endParaRPr lang="en-US" sz="1050" dirty="0"/>
          </a:p>
        </p:txBody>
      </p:sp>
      <p:sp>
        <p:nvSpPr>
          <p:cNvPr id="38" name="Shape 36"/>
          <p:cNvSpPr/>
          <p:nvPr/>
        </p:nvSpPr>
        <p:spPr>
          <a:xfrm>
            <a:off x="914400" y="3108960"/>
            <a:ext cx="1554480" cy="566928"/>
          </a:xfrm>
          <a:prstGeom prst="roundRect">
            <a:avLst>
              <a:gd name="adj" fmla="val 9677"/>
            </a:avLst>
          </a:prstGeom>
          <a:solidFill>
            <a:schemeClr val="bg2"/>
          </a:solidFill>
          <a:ln w="12700">
            <a:solidFill>
              <a:srgbClr val="2F54F7"/>
            </a:solidFill>
            <a:prstDash val="solid"/>
          </a:ln>
        </p:spPr>
      </p:sp>
      <p:sp>
        <p:nvSpPr>
          <p:cNvPr id="39" name="Text 37"/>
          <p:cNvSpPr txBox="1"/>
          <p:nvPr/>
        </p:nvSpPr>
        <p:spPr>
          <a:xfrm>
            <a:off x="914400" y="310896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Symptom</a:t>
            </a:r>
            <a:endParaRPr lang="en-US" sz="1050" dirty="0"/>
          </a:p>
          <a:p>
            <a:pPr algn="ctr" indent="0" marL="0">
              <a:buNone/>
            </a:pPr>
            <a:r>
              <a:rPr lang="en-US" sz="900" dirty="0">
                <a:solidFill>
                  <a:schemeClr val="tx1"/>
                </a:solidFill>
              </a:rPr>
              <a:t>vibration ↑</a:t>
            </a:r>
            <a:endParaRPr lang="en-US" sz="1050" dirty="0"/>
          </a:p>
        </p:txBody>
      </p:sp>
      <p:sp>
        <p:nvSpPr>
          <p:cNvPr id="40" name="Shape 38"/>
          <p:cNvSpPr/>
          <p:nvPr/>
        </p:nvSpPr>
        <p:spPr>
          <a:xfrm>
            <a:off x="3291840" y="3108960"/>
            <a:ext cx="1554480" cy="566928"/>
          </a:xfrm>
          <a:prstGeom prst="roundRect">
            <a:avLst>
              <a:gd name="adj" fmla="val 9677"/>
            </a:avLst>
          </a:prstGeom>
          <a:solidFill>
            <a:schemeClr val="accent1"/>
          </a:solidFill>
          <a:ln w="12700">
            <a:solidFill>
              <a:srgbClr val="2F54F7"/>
            </a:solidFill>
            <a:prstDash val="solid"/>
          </a:ln>
        </p:spPr>
      </p:sp>
      <p:sp>
        <p:nvSpPr>
          <p:cNvPr id="41" name="Text 39"/>
          <p:cNvSpPr txBox="1"/>
          <p:nvPr/>
        </p:nvSpPr>
        <p:spPr>
          <a:xfrm>
            <a:off x="3291840" y="3108960"/>
            <a:ext cx="1554480" cy="566928"/>
          </a:xfrm>
          <a:prstGeom prst="rect">
            <a:avLst/>
          </a:prstGeom>
          <a:noFill/>
          <a:ln/>
        </p:spPr>
        <p:txBody>
          <a:bodyPr wrap="square" lIns="0" tIns="0" rIns="0" bIns="0" rtlCol="0" anchor="ctr"/>
          <a:lstStyle/>
          <a:p>
            <a:pPr algn="ctr" indent="0" marL="0">
              <a:buNone/>
            </a:pPr>
            <a:r>
              <a:rPr lang="en-US" sz="1050" b="1" dirty="0">
                <a:solidFill>
                  <a:schemeClr val="bg1"/>
                </a:solidFill>
              </a:rPr>
              <a:t>Failure mode</a:t>
            </a:r>
            <a:endParaRPr lang="en-US" sz="1050" dirty="0"/>
          </a:p>
          <a:p>
            <a:pPr algn="ctr" indent="0" marL="0">
              <a:buNone/>
            </a:pPr>
            <a:r>
              <a:rPr lang="en-US" sz="900" dirty="0">
                <a:solidFill>
                  <a:schemeClr val="bg1"/>
                </a:solidFill>
              </a:rPr>
              <a:t>bearing inner ring wear</a:t>
            </a:r>
            <a:endParaRPr lang="en-US" sz="1050" dirty="0"/>
          </a:p>
        </p:txBody>
      </p:sp>
      <p:sp>
        <p:nvSpPr>
          <p:cNvPr id="42" name="Shape 40"/>
          <p:cNvSpPr/>
          <p:nvPr/>
        </p:nvSpPr>
        <p:spPr>
          <a:xfrm>
            <a:off x="914400" y="4389120"/>
            <a:ext cx="1554480" cy="566928"/>
          </a:xfrm>
          <a:prstGeom prst="roundRect">
            <a:avLst>
              <a:gd name="adj" fmla="val 9677"/>
            </a:avLst>
          </a:prstGeom>
          <a:solidFill>
            <a:schemeClr val="bg2"/>
          </a:solidFill>
          <a:ln w="12700">
            <a:solidFill>
              <a:srgbClr val="2F54F7"/>
            </a:solidFill>
            <a:prstDash val="solid"/>
          </a:ln>
        </p:spPr>
      </p:sp>
      <p:sp>
        <p:nvSpPr>
          <p:cNvPr id="43" name="Text 41"/>
          <p:cNvSpPr txBox="1"/>
          <p:nvPr/>
        </p:nvSpPr>
        <p:spPr>
          <a:xfrm>
            <a:off x="914400" y="4389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Equipment</a:t>
            </a:r>
            <a:endParaRPr lang="en-US" sz="1050" dirty="0"/>
          </a:p>
          <a:p>
            <a:pPr algn="ctr" indent="0" marL="0">
              <a:buNone/>
            </a:pPr>
            <a:r>
              <a:rPr lang="en-US" sz="900" dirty="0">
                <a:solidFill>
                  <a:schemeClr val="tx1"/>
                </a:solidFill>
              </a:rPr>
              <a:t>P-301 · line 3</a:t>
            </a:r>
            <a:endParaRPr lang="en-US" sz="1050" dirty="0"/>
          </a:p>
        </p:txBody>
      </p:sp>
      <p:sp>
        <p:nvSpPr>
          <p:cNvPr id="44" name="Shape 42"/>
          <p:cNvSpPr/>
          <p:nvPr/>
        </p:nvSpPr>
        <p:spPr>
          <a:xfrm>
            <a:off x="3291840" y="4389120"/>
            <a:ext cx="1554480" cy="566928"/>
          </a:xfrm>
          <a:prstGeom prst="roundRect">
            <a:avLst>
              <a:gd name="adj" fmla="val 9677"/>
            </a:avLst>
          </a:prstGeom>
          <a:solidFill>
            <a:schemeClr val="bg2"/>
          </a:solidFill>
          <a:ln w="12700">
            <a:solidFill>
              <a:srgbClr val="2F54F7"/>
            </a:solidFill>
            <a:prstDash val="solid"/>
          </a:ln>
        </p:spPr>
      </p:sp>
      <p:sp>
        <p:nvSpPr>
          <p:cNvPr id="45" name="Text 43"/>
          <p:cNvSpPr txBox="1"/>
          <p:nvPr/>
        </p:nvSpPr>
        <p:spPr>
          <a:xfrm>
            <a:off x="3291840" y="4389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Manual chunk</a:t>
            </a:r>
            <a:endParaRPr lang="en-US" sz="1050" dirty="0"/>
          </a:p>
          <a:p>
            <a:pPr algn="ctr" indent="0" marL="0">
              <a:buNone/>
            </a:pPr>
            <a:r>
              <a:rPr lang="en-US" sz="900" dirty="0">
                <a:solidFill>
                  <a:schemeClr val="tx1"/>
                </a:solidFill>
              </a:rPr>
              <a:t>CP-200 manual p.1</a:t>
            </a:r>
            <a:endParaRPr lang="en-US" sz="1050" dirty="0"/>
          </a:p>
        </p:txBody>
      </p:sp>
      <p:sp>
        <p:nvSpPr>
          <p:cNvPr id="46" name="Shape 44"/>
          <p:cNvSpPr/>
          <p:nvPr/>
        </p:nvSpPr>
        <p:spPr>
          <a:xfrm>
            <a:off x="5669280" y="4389120"/>
            <a:ext cx="1554480" cy="566928"/>
          </a:xfrm>
          <a:prstGeom prst="roundRect">
            <a:avLst>
              <a:gd name="adj" fmla="val 9677"/>
            </a:avLst>
          </a:prstGeom>
          <a:solidFill>
            <a:schemeClr val="bg2"/>
          </a:solidFill>
          <a:ln w="12700">
            <a:solidFill>
              <a:srgbClr val="2F54F7"/>
            </a:solidFill>
            <a:prstDash val="solid"/>
          </a:ln>
        </p:spPr>
      </p:sp>
      <p:sp>
        <p:nvSpPr>
          <p:cNvPr id="47" name="Text 45"/>
          <p:cNvSpPr txBox="1"/>
          <p:nvPr/>
        </p:nvSpPr>
        <p:spPr>
          <a:xfrm>
            <a:off x="5669280" y="4389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Procedure</a:t>
            </a:r>
            <a:endParaRPr lang="en-US" sz="1050" dirty="0"/>
          </a:p>
          <a:p>
            <a:pPr algn="ctr" indent="0" marL="0">
              <a:buNone/>
            </a:pPr>
            <a:r>
              <a:rPr lang="en-US" sz="900" dirty="0">
                <a:solidFill>
                  <a:schemeClr val="tx1"/>
                </a:solidFill>
              </a:rPr>
              <a:t>PR-001 · 240 min</a:t>
            </a:r>
            <a:endParaRPr lang="en-US" sz="1050" dirty="0"/>
          </a:p>
        </p:txBody>
      </p:sp>
      <p:sp>
        <p:nvSpPr>
          <p:cNvPr id="48" name="Shape 46"/>
          <p:cNvSpPr/>
          <p:nvPr/>
        </p:nvSpPr>
        <p:spPr>
          <a:xfrm>
            <a:off x="8046720" y="4389120"/>
            <a:ext cx="1554480" cy="566928"/>
          </a:xfrm>
          <a:prstGeom prst="roundRect">
            <a:avLst>
              <a:gd name="adj" fmla="val 9677"/>
            </a:avLst>
          </a:prstGeom>
          <a:solidFill>
            <a:schemeClr val="bg2"/>
          </a:solidFill>
          <a:ln w="12700">
            <a:solidFill>
              <a:srgbClr val="2F54F7"/>
            </a:solidFill>
            <a:prstDash val="solid"/>
          </a:ln>
        </p:spPr>
      </p:sp>
      <p:sp>
        <p:nvSpPr>
          <p:cNvPr id="49" name="Text 47"/>
          <p:cNvSpPr txBox="1"/>
          <p:nvPr/>
        </p:nvSpPr>
        <p:spPr>
          <a:xfrm>
            <a:off x="8046720" y="4389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Part</a:t>
            </a:r>
            <a:endParaRPr lang="en-US" sz="1050" dirty="0"/>
          </a:p>
          <a:p>
            <a:pPr algn="ctr" indent="0" marL="0">
              <a:buNone/>
            </a:pPr>
            <a:r>
              <a:rPr lang="en-US" sz="900" dirty="0">
                <a:solidFill>
                  <a:schemeClr val="tx1"/>
                </a:solidFill>
              </a:rPr>
              <a:t>6306ZZ · stock 4 · 3 days</a:t>
            </a:r>
            <a:endParaRPr lang="en-US" sz="1050" dirty="0"/>
          </a:p>
        </p:txBody>
      </p:sp>
      <p:sp>
        <p:nvSpPr>
          <p:cNvPr id="50" name="Shape 48"/>
          <p:cNvSpPr/>
          <p:nvPr/>
        </p:nvSpPr>
        <p:spPr>
          <a:xfrm>
            <a:off x="10058400" y="4389120"/>
            <a:ext cx="1554480" cy="566928"/>
          </a:xfrm>
          <a:prstGeom prst="roundRect">
            <a:avLst>
              <a:gd name="adj" fmla="val 9677"/>
            </a:avLst>
          </a:prstGeom>
          <a:solidFill>
            <a:schemeClr val="bg2"/>
          </a:solidFill>
          <a:ln w="12700">
            <a:solidFill>
              <a:srgbClr val="2F54F7"/>
            </a:solidFill>
            <a:prstDash val="solid"/>
          </a:ln>
        </p:spPr>
      </p:sp>
      <p:sp>
        <p:nvSpPr>
          <p:cNvPr id="51" name="Text 49"/>
          <p:cNvSpPr txBox="1"/>
          <p:nvPr/>
        </p:nvSpPr>
        <p:spPr>
          <a:xfrm>
            <a:off x="10058400" y="4389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Supplier</a:t>
            </a:r>
            <a:endParaRPr lang="en-US" sz="1050" dirty="0"/>
          </a:p>
          <a:p>
            <a:pPr algn="ctr" indent="0" marL="0">
              <a:buNone/>
            </a:pPr>
            <a:r>
              <a:rPr lang="en-US" sz="900" dirty="0">
                <a:solidFill>
                  <a:schemeClr val="tx1"/>
                </a:solidFill>
              </a:rPr>
              <a:t>lead time</a:t>
            </a:r>
            <a:endParaRPr lang="en-US" sz="1050" dirty="0"/>
          </a:p>
        </p:txBody>
      </p:sp>
      <p:sp>
        <p:nvSpPr>
          <p:cNvPr id="52" name="Shape 50"/>
          <p:cNvSpPr/>
          <p:nvPr/>
        </p:nvSpPr>
        <p:spPr>
          <a:xfrm>
            <a:off x="914400" y="5532120"/>
            <a:ext cx="1554480" cy="566928"/>
          </a:xfrm>
          <a:prstGeom prst="roundRect">
            <a:avLst>
              <a:gd name="adj" fmla="val 9677"/>
            </a:avLst>
          </a:prstGeom>
          <a:solidFill>
            <a:schemeClr val="bg2"/>
          </a:solidFill>
          <a:ln w="12700">
            <a:solidFill>
              <a:srgbClr val="2F54F7"/>
            </a:solidFill>
            <a:prstDash val="solid"/>
          </a:ln>
        </p:spPr>
      </p:sp>
      <p:sp>
        <p:nvSpPr>
          <p:cNvPr id="53" name="Text 51"/>
          <p:cNvSpPr txBox="1"/>
          <p:nvPr/>
        </p:nvSpPr>
        <p:spPr>
          <a:xfrm>
            <a:off x="914400" y="5532120"/>
            <a:ext cx="1554480" cy="566928"/>
          </a:xfrm>
          <a:prstGeom prst="rect">
            <a:avLst/>
          </a:prstGeom>
          <a:noFill/>
          <a:ln/>
        </p:spPr>
        <p:txBody>
          <a:bodyPr wrap="square" lIns="0" tIns="0" rIns="0" bIns="0" rtlCol="0" anchor="ctr"/>
          <a:lstStyle/>
          <a:p>
            <a:pPr algn="ctr" indent="0" marL="0">
              <a:buNone/>
            </a:pPr>
            <a:r>
              <a:rPr lang="en-US" sz="1050" b="1" dirty="0">
                <a:solidFill>
                  <a:schemeClr val="tx1"/>
                </a:solidFill>
              </a:rPr>
              <a:t>Line</a:t>
            </a:r>
            <a:endParaRPr lang="en-US" sz="1050" dirty="0"/>
          </a:p>
          <a:p>
            <a:pPr algn="ctr" indent="0" marL="0">
              <a:buNone/>
            </a:pPr>
            <a:r>
              <a:rPr lang="en-US" sz="900" dirty="0">
                <a:solidFill>
                  <a:schemeClr val="tx1"/>
                </a:solidFill>
              </a:rPr>
              <a:t>Line 3 · cooling utility</a:t>
            </a:r>
            <a:endParaRPr lang="en-US" sz="1050" dirty="0"/>
          </a:p>
        </p:txBody>
      </p:sp>
      <p:sp>
        <p:nvSpPr>
          <p:cNvPr id="54" name="Shape 52"/>
          <p:cNvSpPr/>
          <p:nvPr/>
        </p:nvSpPr>
        <p:spPr>
          <a:xfrm>
            <a:off x="3017520" y="5440680"/>
            <a:ext cx="8668512" cy="868680"/>
          </a:xfrm>
          <a:prstGeom prst="roundRect">
            <a:avLst>
              <a:gd name="adj" fmla="val 8421"/>
            </a:avLst>
          </a:prstGeom>
          <a:solidFill>
            <a:schemeClr val="accent3"/>
          </a:solidFill>
          <a:ln w="12700">
            <a:solidFill>
              <a:schemeClr val="accent3"/>
            </a:solidFill>
            <a:prstDash val="solid"/>
          </a:ln>
        </p:spPr>
      </p:sp>
      <p:sp>
        <p:nvSpPr>
          <p:cNvPr id="55" name="Text 53"/>
          <p:cNvSpPr txBox="1"/>
          <p:nvPr/>
        </p:nvSpPr>
        <p:spPr>
          <a:xfrm>
            <a:off x="3154680" y="5486400"/>
            <a:ext cx="8394192" cy="777240"/>
          </a:xfrm>
          <a:prstGeom prst="rect">
            <a:avLst/>
          </a:prstGeom>
          <a:noFill/>
          <a:ln/>
        </p:spPr>
        <p:txBody>
          <a:bodyPr wrap="square" lIns="0" tIns="0" rIns="0" bIns="0" rtlCol="0" anchor="ctr"/>
          <a:lstStyle/>
          <a:p>
            <a:pPr indent="0" marL="0">
              <a:buNone/>
            </a:pPr>
            <a:r>
              <a:rPr lang="en-US" sz="1100" b="1" dirty="0">
                <a:solidFill>
                  <a:schemeClr val="accent1"/>
                </a:solidFill>
              </a:rPr>
              <a:t>Why an ontology, not tables   </a:t>
            </a:r>
            <a:pPr indent="0" marL="0">
              <a:buNone/>
            </a:pPr>
            <a:r>
              <a:rPr lang="en-US" sz="1050" dirty="0">
                <a:solidFill>
                  <a:schemeClr val="tx1"/>
                </a:solidFill>
              </a:rPr>
              <a:t>The same question (“has this happened before?”) is one path, whatever the plant. New data sources attach as new nodes; the agent's tools do not change.   </a:t>
            </a:r>
            <a:pPr indent="0" marL="0">
              <a:buNone/>
            </a:pPr>
            <a:r>
              <a:rPr lang="en-US" sz="1100" b="1" dirty="0">
                <a:solidFill>
                  <a:schemeClr val="accent1"/>
                </a:solidFill>
              </a:rPr>
              <a:t>Plant A   </a:t>
            </a:r>
            <a:pPr indent="0" marL="0">
              <a:buNone/>
            </a:pPr>
            <a:r>
              <a:rPr lang="en-US" sz="1050" dirty="0">
                <a:solidFill>
                  <a:schemeClr val="tx1"/>
                </a:solidFill>
              </a:rPr>
              <a:t>295 nodes · 901 relationships · 43 manual chunks (768-dim Gemini embeddings).</a:t>
            </a:r>
            <a:endParaRPr lang="en-US" sz="11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3. The product</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In the live app every cited ID is a clickable node: the engineer sees what the agent did, reads the answer, and checks the evidence on the graph</a:t>
            </a:r>
            <a:endParaRPr lang="en-US" sz="2000" dirty="0"/>
          </a:p>
        </p:txBody>
      </p:sp>
      <p:pic>
        <p:nvPicPr>
          <p:cNvPr id="4" name="Image 0" descr="/Users/kuro/Desktop/dev/google-kg-maintenance/deck/shots/app_q1.png">    </p:cNvPr>
          <p:cNvPicPr>
            <a:picLocks noChangeAspect="1"/>
          </p:cNvPicPr>
          <p:nvPr/>
        </p:nvPicPr>
        <p:blipFill>
          <a:blip r:embed="rId1"/>
          <a:stretch>
            <a:fillRect/>
          </a:stretch>
        </p:blipFill>
        <p:spPr>
          <a:xfrm>
            <a:off x="502920" y="1600200"/>
            <a:ext cx="7863840" cy="4914900"/>
          </a:xfrm>
          <a:prstGeom prst="rect">
            <a:avLst/>
          </a:prstGeom>
        </p:spPr>
      </p:pic>
      <p:sp>
        <p:nvSpPr>
          <p:cNvPr id="5" name="Shape 2"/>
          <p:cNvSpPr/>
          <p:nvPr/>
        </p:nvSpPr>
        <p:spPr>
          <a:xfrm>
            <a:off x="8595360" y="1600200"/>
            <a:ext cx="411480" cy="411480"/>
          </a:xfrm>
          <a:prstGeom prst="roundRect">
            <a:avLst>
              <a:gd name="adj" fmla="val 17778"/>
            </a:avLst>
          </a:prstGeom>
          <a:solidFill>
            <a:schemeClr val="accent1"/>
          </a:solidFill>
          <a:ln w="12700">
            <a:solidFill>
              <a:schemeClr val="accent1"/>
            </a:solidFill>
            <a:prstDash val="solid"/>
          </a:ln>
        </p:spPr>
      </p:sp>
      <p:sp>
        <p:nvSpPr>
          <p:cNvPr id="6" name="Text 3"/>
          <p:cNvSpPr txBox="1"/>
          <p:nvPr/>
        </p:nvSpPr>
        <p:spPr>
          <a:xfrm>
            <a:off x="8595360" y="16002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098280" y="1554480"/>
            <a:ext cx="2587752" cy="1143000"/>
          </a:xfrm>
          <a:prstGeom prst="rect">
            <a:avLst/>
          </a:prstGeom>
          <a:noFill/>
          <a:ln/>
        </p:spPr>
        <p:txBody>
          <a:bodyPr wrap="square" lIns="0" tIns="0" rIns="0" bIns="0" rtlCol="0" anchor="t"/>
          <a:lstStyle/>
          <a:p>
            <a:pPr indent="0" marL="0">
              <a:buNone/>
            </a:pPr>
            <a:r>
              <a:rPr lang="en-US" sz="1200" b="1" dirty="0">
                <a:solidFill>
                  <a:schemeClr val="tx1"/>
                </a:solidFill>
              </a:rPr>
              <a:t>What the agent did</a:t>
            </a:r>
            <a:endParaRPr lang="en-US" sz="1200" dirty="0"/>
          </a:p>
          <a:p>
            <a:pPr indent="0" marL="0">
              <a:buNone/>
            </a:pPr>
            <a:r>
              <a:rPr lang="en-US" sz="1050" dirty="0">
                <a:solidFill>
                  <a:schemeClr val="tx2"/>
                </a:solidFill>
              </a:rPr>
              <a:t>Semantic manual search, then one Cypher query. Each step shows the search text or the Cypher, row counts and seconds.</a:t>
            </a:r>
            <a:endParaRPr lang="en-US" sz="1200" dirty="0"/>
          </a:p>
        </p:txBody>
      </p:sp>
      <p:sp>
        <p:nvSpPr>
          <p:cNvPr id="8" name="Shape 5"/>
          <p:cNvSpPr/>
          <p:nvPr/>
        </p:nvSpPr>
        <p:spPr>
          <a:xfrm>
            <a:off x="8595360" y="2834640"/>
            <a:ext cx="411480" cy="411480"/>
          </a:xfrm>
          <a:prstGeom prst="roundRect">
            <a:avLst>
              <a:gd name="adj" fmla="val 17778"/>
            </a:avLst>
          </a:prstGeom>
          <a:solidFill>
            <a:schemeClr val="accent1"/>
          </a:solidFill>
          <a:ln w="12700">
            <a:solidFill>
              <a:schemeClr val="accent1"/>
            </a:solidFill>
            <a:prstDash val="solid"/>
          </a:ln>
        </p:spPr>
      </p:sp>
      <p:sp>
        <p:nvSpPr>
          <p:cNvPr id="9" name="Text 6"/>
          <p:cNvSpPr txBox="1"/>
          <p:nvPr/>
        </p:nvSpPr>
        <p:spPr>
          <a:xfrm>
            <a:off x="8595360" y="28346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7"/>
          <p:cNvSpPr txBox="1"/>
          <p:nvPr/>
        </p:nvSpPr>
        <p:spPr>
          <a:xfrm>
            <a:off x="9098280" y="2788920"/>
            <a:ext cx="2587752" cy="1143000"/>
          </a:xfrm>
          <a:prstGeom prst="rect">
            <a:avLst/>
          </a:prstGeom>
          <a:noFill/>
          <a:ln/>
        </p:spPr>
        <p:txBody>
          <a:bodyPr wrap="square" lIns="0" tIns="0" rIns="0" bIns="0" rtlCol="0" anchor="t"/>
          <a:lstStyle/>
          <a:p>
            <a:pPr indent="0" marL="0">
              <a:buNone/>
            </a:pPr>
            <a:r>
              <a:rPr lang="en-US" sz="1200" b="1" dirty="0">
                <a:solidFill>
                  <a:schemeClr val="tx1"/>
                </a:solidFill>
              </a:rPr>
              <a:t>Answer in a fixed format</a:t>
            </a:r>
            <a:endParaRPr lang="en-US" sz="1200" dirty="0"/>
          </a:p>
          <a:p>
            <a:pPr indent="0" marL="0">
              <a:buNone/>
            </a:pPr>
            <a:r>
              <a:rPr lang="en-US" sz="1050" dirty="0">
                <a:solidFill>
                  <a:schemeClr val="tx2"/>
                </a:solidFill>
              </a:rPr>
              <a:t>Conclusion · candidate causes with past-case counts · recommended action with the required certification · evidence IDs.</a:t>
            </a:r>
            <a:endParaRPr lang="en-US" sz="1200" dirty="0"/>
          </a:p>
        </p:txBody>
      </p:sp>
      <p:sp>
        <p:nvSpPr>
          <p:cNvPr id="11" name="Shape 8"/>
          <p:cNvSpPr/>
          <p:nvPr/>
        </p:nvSpPr>
        <p:spPr>
          <a:xfrm>
            <a:off x="8595360" y="4069080"/>
            <a:ext cx="411480" cy="411480"/>
          </a:xfrm>
          <a:prstGeom prst="roundRect">
            <a:avLst>
              <a:gd name="adj" fmla="val 17778"/>
            </a:avLst>
          </a:prstGeom>
          <a:solidFill>
            <a:schemeClr val="accent1"/>
          </a:solidFill>
          <a:ln w="12700">
            <a:solidFill>
              <a:schemeClr val="accent1"/>
            </a:solidFill>
            <a:prstDash val="solid"/>
          </a:ln>
        </p:spPr>
      </p:sp>
      <p:sp>
        <p:nvSpPr>
          <p:cNvPr id="12" name="Text 9"/>
          <p:cNvSpPr txBox="1"/>
          <p:nvPr/>
        </p:nvSpPr>
        <p:spPr>
          <a:xfrm>
            <a:off x="8595360" y="406908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0"/>
          <p:cNvSpPr txBox="1"/>
          <p:nvPr/>
        </p:nvSpPr>
        <p:spPr>
          <a:xfrm>
            <a:off x="9098280" y="4023360"/>
            <a:ext cx="2587752" cy="1143000"/>
          </a:xfrm>
          <a:prstGeom prst="rect">
            <a:avLst/>
          </a:prstGeom>
          <a:noFill/>
          <a:ln/>
        </p:spPr>
        <p:txBody>
          <a:bodyPr wrap="square" lIns="0" tIns="0" rIns="0" bIns="0" rtlCol="0" anchor="t"/>
          <a:lstStyle/>
          <a:p>
            <a:pPr indent="0" marL="0">
              <a:buNone/>
            </a:pPr>
            <a:r>
              <a:rPr lang="en-US" sz="1200" b="1" dirty="0">
                <a:solidFill>
                  <a:schemeClr val="tx1"/>
                </a:solidFill>
              </a:rPr>
              <a:t>Evidence graph</a:t>
            </a:r>
            <a:endParaRPr lang="en-US" sz="1200" dirty="0"/>
          </a:p>
          <a:p>
            <a:pPr indent="0" marL="0">
              <a:buNone/>
            </a:pPr>
            <a:r>
              <a:rPr lang="en-US" sz="1050" dirty="0">
                <a:solidFill>
                  <a:schemeClr val="tx2"/>
                </a:solidFill>
              </a:rPr>
              <a:t>Shortest paths between the cited nodes. Clicking WO-2026-020 in the answer highlights it on the graph.</a:t>
            </a:r>
            <a:endParaRPr lang="en-US" sz="1200" dirty="0"/>
          </a:p>
        </p:txBody>
      </p:sp>
      <p:sp>
        <p:nvSpPr>
          <p:cNvPr id="14" name="Shape 11"/>
          <p:cNvSpPr/>
          <p:nvPr/>
        </p:nvSpPr>
        <p:spPr>
          <a:xfrm>
            <a:off x="8595360" y="5303520"/>
            <a:ext cx="411480" cy="411480"/>
          </a:xfrm>
          <a:prstGeom prst="roundRect">
            <a:avLst>
              <a:gd name="adj" fmla="val 17778"/>
            </a:avLst>
          </a:prstGeom>
          <a:solidFill>
            <a:schemeClr val="accent1"/>
          </a:solidFill>
          <a:ln w="12700">
            <a:solidFill>
              <a:schemeClr val="accent1"/>
            </a:solidFill>
            <a:prstDash val="solid"/>
          </a:ln>
        </p:spPr>
      </p:sp>
      <p:sp>
        <p:nvSpPr>
          <p:cNvPr id="15" name="Text 12"/>
          <p:cNvSpPr txBox="1"/>
          <p:nvPr/>
        </p:nvSpPr>
        <p:spPr>
          <a:xfrm>
            <a:off x="8595360" y="53035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 13"/>
          <p:cNvSpPr txBox="1"/>
          <p:nvPr/>
        </p:nvSpPr>
        <p:spPr>
          <a:xfrm>
            <a:off x="9098280" y="5257800"/>
            <a:ext cx="2587752" cy="1143000"/>
          </a:xfrm>
          <a:prstGeom prst="rect">
            <a:avLst/>
          </a:prstGeom>
          <a:noFill/>
          <a:ln/>
        </p:spPr>
        <p:txBody>
          <a:bodyPr wrap="square" lIns="0" tIns="0" rIns="0" bIns="0" rtlCol="0" anchor="t"/>
          <a:lstStyle/>
          <a:p>
            <a:pPr indent="0" marL="0">
              <a:buNone/>
            </a:pPr>
            <a:r>
              <a:rPr lang="en-US" sz="1200" b="1" dirty="0">
                <a:solidFill>
                  <a:schemeClr val="tx1"/>
                </a:solidFill>
              </a:rPr>
              <a:t>Bilingual over Japanese records</a:t>
            </a:r>
            <a:endParaRPr lang="en-US" sz="1200" dirty="0"/>
          </a:p>
          <a:p>
            <a:pPr indent="0" marL="0">
              <a:buNone/>
            </a:pPr>
            <a:r>
              <a:rPr lang="en-US" sz="1050" dirty="0">
                <a:solidFill>
                  <a:schemeClr val="tx2"/>
                </a:solidFill>
              </a:rPr>
              <a:t>Ask in English or Japanese; the graph values stay in Japanese with English names, IDs never change.</a:t>
            </a:r>
            <a:endParaRPr lang="en-US" sz="12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4. Technical merit</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An ADK agent with three read-only tools, Gemini for reasoning and embeddings, two Cloud Run services, and guardrails that reject writes and invented IDs</a:t>
            </a:r>
            <a:endParaRPr lang="en-US" sz="2000" dirty="0"/>
          </a:p>
        </p:txBody>
      </p:sp>
      <p:sp>
        <p:nvSpPr>
          <p:cNvPr id="4" name="Shape 2"/>
          <p:cNvSpPr/>
          <p:nvPr/>
        </p:nvSpPr>
        <p:spPr>
          <a:xfrm>
            <a:off x="1965960" y="3063240"/>
            <a:ext cx="320040" cy="0"/>
          </a:xfrm>
          <a:prstGeom prst="line">
            <a:avLst/>
          </a:prstGeom>
          <a:noFill/>
          <a:ln w="15875">
            <a:solidFill>
              <a:srgbClr val="3C4049"/>
            </a:solidFill>
            <a:prstDash val="solid"/>
            <a:tailEnd type="triangle"/>
          </a:ln>
        </p:spPr>
      </p:sp>
      <p:sp>
        <p:nvSpPr>
          <p:cNvPr id="5" name="Shape 3"/>
          <p:cNvSpPr/>
          <p:nvPr/>
        </p:nvSpPr>
        <p:spPr>
          <a:xfrm flipV="1">
            <a:off x="4572000" y="3063240"/>
            <a:ext cx="411480" cy="0"/>
          </a:xfrm>
          <a:prstGeom prst="line">
            <a:avLst/>
          </a:prstGeom>
          <a:noFill/>
          <a:ln w="15875">
            <a:solidFill>
              <a:srgbClr val="3C4049"/>
            </a:solidFill>
            <a:prstDash val="solid"/>
            <a:tailEnd type="triangle"/>
          </a:ln>
        </p:spPr>
      </p:sp>
      <p:sp>
        <p:nvSpPr>
          <p:cNvPr id="6" name="Shape 4"/>
          <p:cNvSpPr/>
          <p:nvPr/>
        </p:nvSpPr>
        <p:spPr>
          <a:xfrm flipV="1">
            <a:off x="7543800" y="2103120"/>
            <a:ext cx="685800" cy="960120"/>
          </a:xfrm>
          <a:prstGeom prst="line">
            <a:avLst/>
          </a:prstGeom>
          <a:noFill/>
          <a:ln w="15875">
            <a:solidFill>
              <a:srgbClr val="3C4049"/>
            </a:solidFill>
            <a:prstDash val="solid"/>
            <a:tailEnd type="triangle"/>
          </a:ln>
        </p:spPr>
      </p:sp>
      <p:sp>
        <p:nvSpPr>
          <p:cNvPr id="7" name="Shape 5"/>
          <p:cNvSpPr/>
          <p:nvPr/>
        </p:nvSpPr>
        <p:spPr>
          <a:xfrm>
            <a:off x="7543800" y="3063240"/>
            <a:ext cx="685800" cy="594360"/>
          </a:xfrm>
          <a:prstGeom prst="line">
            <a:avLst/>
          </a:prstGeom>
          <a:noFill/>
          <a:ln w="15875">
            <a:solidFill>
              <a:srgbClr val="3C4049"/>
            </a:solidFill>
            <a:prstDash val="solid"/>
            <a:tailEnd type="triangle"/>
          </a:ln>
        </p:spPr>
      </p:sp>
      <p:sp>
        <p:nvSpPr>
          <p:cNvPr id="8" name="Shape 6"/>
          <p:cNvSpPr/>
          <p:nvPr/>
        </p:nvSpPr>
        <p:spPr>
          <a:xfrm>
            <a:off x="502920" y="2697480"/>
            <a:ext cx="1463040" cy="731520"/>
          </a:xfrm>
          <a:prstGeom prst="roundRect">
            <a:avLst>
              <a:gd name="adj" fmla="val 7500"/>
            </a:avLst>
          </a:prstGeom>
          <a:solidFill>
            <a:schemeClr val="bg2"/>
          </a:solidFill>
          <a:ln w="12700">
            <a:solidFill>
              <a:srgbClr val="2F54F7"/>
            </a:solidFill>
            <a:prstDash val="solid"/>
          </a:ln>
        </p:spPr>
      </p:sp>
      <p:sp>
        <p:nvSpPr>
          <p:cNvPr id="9" name="Text 7"/>
          <p:cNvSpPr txBox="1"/>
          <p:nvPr/>
        </p:nvSpPr>
        <p:spPr>
          <a:xfrm>
            <a:off x="502920" y="2697480"/>
            <a:ext cx="1463040" cy="731520"/>
          </a:xfrm>
          <a:prstGeom prst="rect">
            <a:avLst/>
          </a:prstGeom>
          <a:noFill/>
          <a:ln/>
        </p:spPr>
        <p:txBody>
          <a:bodyPr wrap="square" lIns="0" tIns="0" rIns="0" bIns="0" rtlCol="0" anchor="ctr"/>
          <a:lstStyle/>
          <a:p>
            <a:pPr algn="ctr" indent="0" marL="0">
              <a:buNone/>
            </a:pPr>
            <a:r>
              <a:rPr lang="en-US" sz="1050" b="1" dirty="0">
                <a:solidFill>
                  <a:schemeClr val="tx1"/>
                </a:solidFill>
              </a:rPr>
              <a:t>Browser</a:t>
            </a:r>
            <a:endParaRPr lang="en-US" sz="1050" dirty="0"/>
          </a:p>
          <a:p>
            <a:pPr algn="ctr" indent="0" marL="0">
              <a:buNone/>
            </a:pPr>
            <a:r>
              <a:rPr lang="en-US" sz="900" dirty="0">
                <a:solidFill>
                  <a:schemeClr val="tx1"/>
                </a:solidFill>
              </a:rPr>
              <a:t>field engineer</a:t>
            </a:r>
            <a:endParaRPr lang="en-US" sz="1050" dirty="0"/>
          </a:p>
        </p:txBody>
      </p:sp>
      <p:sp>
        <p:nvSpPr>
          <p:cNvPr id="10" name="Shape 8"/>
          <p:cNvSpPr/>
          <p:nvPr/>
        </p:nvSpPr>
        <p:spPr>
          <a:xfrm>
            <a:off x="2286000" y="2514600"/>
            <a:ext cx="2286000" cy="1097280"/>
          </a:xfrm>
          <a:prstGeom prst="roundRect">
            <a:avLst>
              <a:gd name="adj" fmla="val 5000"/>
            </a:avLst>
          </a:prstGeom>
          <a:solidFill>
            <a:schemeClr val="bg2"/>
          </a:solidFill>
          <a:ln w="12700">
            <a:solidFill>
              <a:srgbClr val="2F54F7"/>
            </a:solidFill>
            <a:prstDash val="solid"/>
          </a:ln>
        </p:spPr>
      </p:sp>
      <p:sp>
        <p:nvSpPr>
          <p:cNvPr id="11" name="Text 9"/>
          <p:cNvSpPr txBox="1"/>
          <p:nvPr/>
        </p:nvSpPr>
        <p:spPr>
          <a:xfrm>
            <a:off x="2286000" y="2514600"/>
            <a:ext cx="2286000" cy="1097280"/>
          </a:xfrm>
          <a:prstGeom prst="rect">
            <a:avLst/>
          </a:prstGeom>
          <a:noFill/>
          <a:ln/>
        </p:spPr>
        <p:txBody>
          <a:bodyPr wrap="square" lIns="0" tIns="0" rIns="0" bIns="0" rtlCol="0" anchor="ctr"/>
          <a:lstStyle/>
          <a:p>
            <a:pPr algn="ctr" indent="0" marL="0">
              <a:buNone/>
            </a:pPr>
            <a:r>
              <a:rPr lang="en-US" sz="1050" b="1" dirty="0">
                <a:solidFill>
                  <a:schemeClr val="tx1"/>
                </a:solidFill>
              </a:rPr>
              <a:t>Cloud Run · kg-web</a:t>
            </a:r>
            <a:endParaRPr lang="en-US" sz="1050" dirty="0"/>
          </a:p>
          <a:p>
            <a:pPr algn="ctr" indent="0" marL="0">
              <a:buNone/>
            </a:pPr>
            <a:r>
              <a:rPr lang="en-US" sz="900" dirty="0">
                <a:solidFill>
                  <a:schemeClr val="tx1"/>
                </a:solidFill>
              </a:rPr>
              <a:t>Next.js 16: chat, tool timeline, evidence graph</a:t>
            </a:r>
            <a:endParaRPr lang="en-US" sz="1050" dirty="0"/>
          </a:p>
        </p:txBody>
      </p:sp>
      <p:sp>
        <p:nvSpPr>
          <p:cNvPr id="12" name="Shape 10"/>
          <p:cNvSpPr/>
          <p:nvPr/>
        </p:nvSpPr>
        <p:spPr>
          <a:xfrm>
            <a:off x="4983480" y="2331720"/>
            <a:ext cx="2560320" cy="1463040"/>
          </a:xfrm>
          <a:prstGeom prst="roundRect">
            <a:avLst>
              <a:gd name="adj" fmla="val 3750"/>
            </a:avLst>
          </a:prstGeom>
          <a:solidFill>
            <a:schemeClr val="accent1"/>
          </a:solidFill>
          <a:ln w="12700">
            <a:solidFill>
              <a:srgbClr val="2F54F7"/>
            </a:solidFill>
            <a:prstDash val="solid"/>
          </a:ln>
        </p:spPr>
      </p:sp>
      <p:sp>
        <p:nvSpPr>
          <p:cNvPr id="13" name="Text 11"/>
          <p:cNvSpPr txBox="1"/>
          <p:nvPr/>
        </p:nvSpPr>
        <p:spPr>
          <a:xfrm>
            <a:off x="4983480" y="2331720"/>
            <a:ext cx="2560320" cy="1463040"/>
          </a:xfrm>
          <a:prstGeom prst="rect">
            <a:avLst/>
          </a:prstGeom>
          <a:noFill/>
          <a:ln/>
        </p:spPr>
        <p:txBody>
          <a:bodyPr wrap="square" lIns="0" tIns="0" rIns="0" bIns="0" rtlCol="0" anchor="ctr"/>
          <a:lstStyle/>
          <a:p>
            <a:pPr algn="ctr" indent="0" marL="0">
              <a:buNone/>
            </a:pPr>
            <a:r>
              <a:rPr lang="en-US" sz="1050" b="1" dirty="0">
                <a:solidFill>
                  <a:schemeClr val="bg1"/>
                </a:solidFill>
              </a:rPr>
              <a:t>Cloud Run · kg-agent</a:t>
            </a:r>
            <a:endParaRPr lang="en-US" sz="1050" dirty="0"/>
          </a:p>
          <a:p>
            <a:pPr algn="ctr" indent="0" marL="0">
              <a:buNone/>
            </a:pPr>
            <a:r>
              <a:rPr lang="en-US" sz="900" dirty="0">
                <a:solidFill>
                  <a:schemeClr val="bg1"/>
                </a:solidFill>
              </a:rPr>
              <a:t>Google ADK · Gemini 3.8 Flash · 3 read-only tools · SSE streaming</a:t>
            </a:r>
            <a:endParaRPr lang="en-US" sz="1050" dirty="0"/>
          </a:p>
        </p:txBody>
      </p:sp>
      <p:sp>
        <p:nvSpPr>
          <p:cNvPr id="14" name="Shape 12"/>
          <p:cNvSpPr/>
          <p:nvPr/>
        </p:nvSpPr>
        <p:spPr>
          <a:xfrm>
            <a:off x="8229600" y="1691640"/>
            <a:ext cx="2926080" cy="822960"/>
          </a:xfrm>
          <a:prstGeom prst="roundRect">
            <a:avLst>
              <a:gd name="adj" fmla="val 6667"/>
            </a:avLst>
          </a:prstGeom>
          <a:solidFill>
            <a:schemeClr val="bg2"/>
          </a:solidFill>
          <a:ln w="12700">
            <a:solidFill>
              <a:srgbClr val="2F54F7"/>
            </a:solidFill>
            <a:prstDash val="solid"/>
          </a:ln>
        </p:spPr>
      </p:sp>
      <p:sp>
        <p:nvSpPr>
          <p:cNvPr id="15" name="Text 13"/>
          <p:cNvSpPr txBox="1"/>
          <p:nvPr/>
        </p:nvSpPr>
        <p:spPr>
          <a:xfrm>
            <a:off x="8229600" y="1691640"/>
            <a:ext cx="2926080" cy="822960"/>
          </a:xfrm>
          <a:prstGeom prst="rect">
            <a:avLst/>
          </a:prstGeom>
          <a:noFill/>
          <a:ln/>
        </p:spPr>
        <p:txBody>
          <a:bodyPr wrap="square" lIns="0" tIns="0" rIns="0" bIns="0" rtlCol="0" anchor="ctr"/>
          <a:lstStyle/>
          <a:p>
            <a:pPr algn="ctr" indent="0" marL="0">
              <a:buNone/>
            </a:pPr>
            <a:r>
              <a:rPr lang="en-US" sz="1050" b="1" dirty="0">
                <a:solidFill>
                  <a:schemeClr val="tx1"/>
                </a:solidFill>
              </a:rPr>
              <a:t>Vertex AI</a:t>
            </a:r>
            <a:endParaRPr lang="en-US" sz="1050" dirty="0"/>
          </a:p>
          <a:p>
            <a:pPr algn="ctr" indent="0" marL="0">
              <a:buNone/>
            </a:pPr>
            <a:r>
              <a:rPr lang="en-US" sz="900" dirty="0">
                <a:solidFill>
                  <a:schemeClr val="tx1"/>
                </a:solidFill>
              </a:rPr>
              <a:t>Gemini 3.8 Flash · gemini-embedding-001 (768-dim)</a:t>
            </a:r>
            <a:endParaRPr lang="en-US" sz="1050" dirty="0"/>
          </a:p>
        </p:txBody>
      </p:sp>
      <p:sp>
        <p:nvSpPr>
          <p:cNvPr id="16" name="Shape 14"/>
          <p:cNvSpPr/>
          <p:nvPr/>
        </p:nvSpPr>
        <p:spPr>
          <a:xfrm>
            <a:off x="8229600" y="3154680"/>
            <a:ext cx="2926080" cy="1005840"/>
          </a:xfrm>
          <a:prstGeom prst="roundRect">
            <a:avLst>
              <a:gd name="adj" fmla="val 5455"/>
            </a:avLst>
          </a:prstGeom>
          <a:solidFill>
            <a:srgbClr val="3C4049"/>
          </a:solidFill>
          <a:ln w="12700">
            <a:solidFill>
              <a:srgbClr val="3C4049"/>
            </a:solidFill>
            <a:prstDash val="solid"/>
          </a:ln>
        </p:spPr>
      </p:sp>
      <p:sp>
        <p:nvSpPr>
          <p:cNvPr id="17" name="Text 15"/>
          <p:cNvSpPr txBox="1"/>
          <p:nvPr/>
        </p:nvSpPr>
        <p:spPr>
          <a:xfrm>
            <a:off x="8229600" y="3154680"/>
            <a:ext cx="2926080" cy="1005840"/>
          </a:xfrm>
          <a:prstGeom prst="rect">
            <a:avLst/>
          </a:prstGeom>
          <a:noFill/>
          <a:ln/>
        </p:spPr>
        <p:txBody>
          <a:bodyPr wrap="square" lIns="0" tIns="0" rIns="0" bIns="0" rtlCol="0" anchor="ctr"/>
          <a:lstStyle/>
          <a:p>
            <a:pPr algn="ctr" indent="0" marL="0">
              <a:buNone/>
            </a:pPr>
            <a:r>
              <a:rPr lang="en-US" sz="1050" b="1" dirty="0">
                <a:solidFill>
                  <a:schemeClr val="bg1"/>
                </a:solidFill>
              </a:rPr>
              <a:t>Neo4j AuraDB (on Google Cloud)</a:t>
            </a:r>
            <a:endParaRPr lang="en-US" sz="1050" dirty="0"/>
          </a:p>
          <a:p>
            <a:pPr algn="ctr" indent="0" marL="0">
              <a:buNone/>
            </a:pPr>
            <a:r>
              <a:rPr lang="en-US" sz="900" dirty="0">
                <a:solidFill>
                  <a:schemeClr val="bg1"/>
                </a:solidFill>
              </a:rPr>
              <a:t>ontology graph · vector index · full-text index</a:t>
            </a:r>
            <a:endParaRPr lang="en-US" sz="1050" dirty="0"/>
          </a:p>
        </p:txBody>
      </p:sp>
      <p:sp>
        <p:nvSpPr>
          <p:cNvPr id="18" name="Shape 16"/>
          <p:cNvSpPr/>
          <p:nvPr/>
        </p:nvSpPr>
        <p:spPr>
          <a:xfrm>
            <a:off x="2286000" y="3977640"/>
            <a:ext cx="5257800" cy="502920"/>
          </a:xfrm>
          <a:prstGeom prst="roundRect">
            <a:avLst>
              <a:gd name="adj" fmla="val 10909"/>
            </a:avLst>
          </a:prstGeom>
          <a:solidFill>
            <a:schemeClr val="bg2"/>
          </a:solidFill>
          <a:ln w="12700">
            <a:solidFill>
              <a:srgbClr val="2F54F7"/>
            </a:solidFill>
            <a:prstDash val="solid"/>
          </a:ln>
        </p:spPr>
      </p:sp>
      <p:sp>
        <p:nvSpPr>
          <p:cNvPr id="19" name="Text 17"/>
          <p:cNvSpPr txBox="1"/>
          <p:nvPr/>
        </p:nvSpPr>
        <p:spPr>
          <a:xfrm>
            <a:off x="2286000" y="3977640"/>
            <a:ext cx="5257800" cy="502920"/>
          </a:xfrm>
          <a:prstGeom prst="rect">
            <a:avLst/>
          </a:prstGeom>
          <a:noFill/>
          <a:ln/>
        </p:spPr>
        <p:txBody>
          <a:bodyPr wrap="square" lIns="0" tIns="0" rIns="0" bIns="0" rtlCol="0" anchor="ctr"/>
          <a:lstStyle/>
          <a:p>
            <a:pPr algn="ctr" indent="0" marL="0">
              <a:buNone/>
            </a:pPr>
            <a:r>
              <a:rPr lang="en-US" sz="1050" b="1" dirty="0">
                <a:solidFill>
                  <a:schemeClr val="tx1"/>
                </a:solidFill>
              </a:rPr>
              <a:t>Secret Manager · Cloud Scheduler · Cloud Logging · Cloud Build · Artifact Registry</a:t>
            </a:r>
            <a:endParaRPr lang="en-US" sz="1050" dirty="0"/>
          </a:p>
        </p:txBody>
      </p:sp>
      <p:sp>
        <p:nvSpPr>
          <p:cNvPr id="20" name="Shape 18"/>
          <p:cNvSpPr/>
          <p:nvPr/>
        </p:nvSpPr>
        <p:spPr>
          <a:xfrm>
            <a:off x="502920" y="4709160"/>
            <a:ext cx="2658618" cy="1600200"/>
          </a:xfrm>
          <a:prstGeom prst="roundRect">
            <a:avLst>
              <a:gd name="adj" fmla="val 4571"/>
            </a:avLst>
          </a:prstGeom>
          <a:solidFill>
            <a:schemeClr val="accent3"/>
          </a:solidFill>
          <a:ln w="12700">
            <a:solidFill>
              <a:schemeClr val="accent3"/>
            </a:solidFill>
            <a:prstDash val="solid"/>
          </a:ln>
        </p:spPr>
      </p:sp>
      <p:sp>
        <p:nvSpPr>
          <p:cNvPr id="21" name="Text 19"/>
          <p:cNvSpPr txBox="1"/>
          <p:nvPr/>
        </p:nvSpPr>
        <p:spPr>
          <a:xfrm>
            <a:off x="640080" y="4773168"/>
            <a:ext cx="2384298" cy="1463040"/>
          </a:xfrm>
          <a:prstGeom prst="rect">
            <a:avLst/>
          </a:prstGeom>
          <a:noFill/>
          <a:ln/>
        </p:spPr>
        <p:txBody>
          <a:bodyPr wrap="square" lIns="0" tIns="0" rIns="0" bIns="0" rtlCol="0" anchor="t"/>
          <a:lstStyle/>
          <a:p>
            <a:pPr indent="0" marL="0">
              <a:buNone/>
            </a:pPr>
            <a:r>
              <a:rPr lang="en-US" sz="1150" b="1" dirty="0">
                <a:solidFill>
                  <a:schemeClr val="accent1"/>
                </a:solidFill>
              </a:rPr>
              <a:t>Read-only by construction</a:t>
            </a:r>
            <a:endParaRPr lang="en-US" sz="1150" dirty="0"/>
          </a:p>
          <a:p>
            <a:pPr indent="0" marL="0">
              <a:buNone/>
            </a:pPr>
            <a:r>
              <a:rPr lang="en-US" sz="1000" dirty="0">
                <a:solidFill>
                  <a:schemeClr val="tx1"/>
                </a:solidFill>
              </a:rPr>
              <a:t>Write clauses are rejected before execution; transactions open in READ mode; 20-second query timeout. Covered by unit tests.</a:t>
            </a:r>
            <a:endParaRPr lang="en-US" sz="1150" dirty="0"/>
          </a:p>
        </p:txBody>
      </p:sp>
      <p:sp>
        <p:nvSpPr>
          <p:cNvPr id="22" name="Shape 20"/>
          <p:cNvSpPr/>
          <p:nvPr/>
        </p:nvSpPr>
        <p:spPr>
          <a:xfrm>
            <a:off x="3344418" y="4709160"/>
            <a:ext cx="2658618" cy="1600200"/>
          </a:xfrm>
          <a:prstGeom prst="roundRect">
            <a:avLst>
              <a:gd name="adj" fmla="val 4571"/>
            </a:avLst>
          </a:prstGeom>
          <a:solidFill>
            <a:schemeClr val="accent3"/>
          </a:solidFill>
          <a:ln w="12700">
            <a:solidFill>
              <a:schemeClr val="accent3"/>
            </a:solidFill>
            <a:prstDash val="solid"/>
          </a:ln>
        </p:spPr>
      </p:sp>
      <p:sp>
        <p:nvSpPr>
          <p:cNvPr id="23" name="Text 21"/>
          <p:cNvSpPr txBox="1"/>
          <p:nvPr/>
        </p:nvSpPr>
        <p:spPr>
          <a:xfrm>
            <a:off x="3481578" y="4773168"/>
            <a:ext cx="2384298" cy="1463040"/>
          </a:xfrm>
          <a:prstGeom prst="rect">
            <a:avLst/>
          </a:prstGeom>
          <a:noFill/>
          <a:ln/>
        </p:spPr>
        <p:txBody>
          <a:bodyPr wrap="square" lIns="0" tIns="0" rIns="0" bIns="0" rtlCol="0" anchor="t"/>
          <a:lstStyle/>
          <a:p>
            <a:pPr indent="0" marL="0">
              <a:buNone/>
            </a:pPr>
            <a:r>
              <a:rPr lang="en-US" sz="1150" b="1" dirty="0">
                <a:solidFill>
                  <a:schemeClr val="accent1"/>
                </a:solidFill>
              </a:rPr>
              <a:t>Evidence is mandatory</a:t>
            </a:r>
            <a:endParaRPr lang="en-US" sz="1150" dirty="0"/>
          </a:p>
          <a:p>
            <a:pPr indent="0" marL="0">
              <a:buNone/>
            </a:pPr>
            <a:r>
              <a:rPr lang="en-US" sz="1000" dirty="0">
                <a:solidFill>
                  <a:schemeClr val="tx1"/>
                </a:solidFill>
              </a:rPr>
              <a:t>Fixed answer format with an Evidence section. IDs become chips and are resolved against the graph, so an unknown ID cannot appear as a node.</a:t>
            </a:r>
            <a:endParaRPr lang="en-US" sz="1150" dirty="0"/>
          </a:p>
        </p:txBody>
      </p:sp>
      <p:sp>
        <p:nvSpPr>
          <p:cNvPr id="24" name="Shape 22"/>
          <p:cNvSpPr/>
          <p:nvPr/>
        </p:nvSpPr>
        <p:spPr>
          <a:xfrm>
            <a:off x="6185916" y="4709160"/>
            <a:ext cx="2658618" cy="1600200"/>
          </a:xfrm>
          <a:prstGeom prst="roundRect">
            <a:avLst>
              <a:gd name="adj" fmla="val 4571"/>
            </a:avLst>
          </a:prstGeom>
          <a:solidFill>
            <a:schemeClr val="accent3"/>
          </a:solidFill>
          <a:ln w="12700">
            <a:solidFill>
              <a:schemeClr val="accent3"/>
            </a:solidFill>
            <a:prstDash val="solid"/>
          </a:ln>
        </p:spPr>
      </p:sp>
      <p:sp>
        <p:nvSpPr>
          <p:cNvPr id="25" name="Text 23"/>
          <p:cNvSpPr txBox="1"/>
          <p:nvPr/>
        </p:nvSpPr>
        <p:spPr>
          <a:xfrm>
            <a:off x="6323076" y="4773168"/>
            <a:ext cx="2384298" cy="1463040"/>
          </a:xfrm>
          <a:prstGeom prst="rect">
            <a:avLst/>
          </a:prstGeom>
          <a:noFill/>
          <a:ln/>
        </p:spPr>
        <p:txBody>
          <a:bodyPr wrap="square" lIns="0" tIns="0" rIns="0" bIns="0" rtlCol="0" anchor="t"/>
          <a:lstStyle/>
          <a:p>
            <a:pPr indent="0" marL="0">
              <a:buNone/>
            </a:pPr>
            <a:r>
              <a:rPr lang="en-US" sz="1150" b="1" dirty="0">
                <a:solidFill>
                  <a:schemeClr val="accent1"/>
                </a:solidFill>
              </a:rPr>
              <a:t>Private agent, public UI</a:t>
            </a:r>
            <a:endParaRPr lang="en-US" sz="1150" dirty="0"/>
          </a:p>
          <a:p>
            <a:pPr indent="0" marL="0">
              <a:buNone/>
            </a:pPr>
            <a:r>
              <a:rPr lang="en-US" sz="1000" dirty="0">
                <a:solidFill>
                  <a:schemeClr val="tx1"/>
                </a:solidFill>
              </a:rPr>
              <a:t>kg-agent accepts only ID tokens from the web service account and Cloud Scheduler. Neo4j credentials come from Secret Manager.</a:t>
            </a:r>
            <a:endParaRPr lang="en-US" sz="1150" dirty="0"/>
          </a:p>
        </p:txBody>
      </p:sp>
      <p:sp>
        <p:nvSpPr>
          <p:cNvPr id="26" name="Shape 24"/>
          <p:cNvSpPr/>
          <p:nvPr/>
        </p:nvSpPr>
        <p:spPr>
          <a:xfrm>
            <a:off x="9027414" y="4709160"/>
            <a:ext cx="2658618" cy="1600200"/>
          </a:xfrm>
          <a:prstGeom prst="roundRect">
            <a:avLst>
              <a:gd name="adj" fmla="val 4571"/>
            </a:avLst>
          </a:prstGeom>
          <a:solidFill>
            <a:schemeClr val="accent3"/>
          </a:solidFill>
          <a:ln w="12700">
            <a:solidFill>
              <a:schemeClr val="accent3"/>
            </a:solidFill>
            <a:prstDash val="solid"/>
          </a:ln>
        </p:spPr>
      </p:sp>
      <p:sp>
        <p:nvSpPr>
          <p:cNvPr id="27" name="Text 25"/>
          <p:cNvSpPr txBox="1"/>
          <p:nvPr/>
        </p:nvSpPr>
        <p:spPr>
          <a:xfrm>
            <a:off x="9164574" y="4773168"/>
            <a:ext cx="2384298" cy="1463040"/>
          </a:xfrm>
          <a:prstGeom prst="rect">
            <a:avLst/>
          </a:prstGeom>
          <a:noFill/>
          <a:ln/>
        </p:spPr>
        <p:txBody>
          <a:bodyPr wrap="square" lIns="0" tIns="0" rIns="0" bIns="0" rtlCol="0" anchor="t"/>
          <a:lstStyle/>
          <a:p>
            <a:pPr indent="0" marL="0">
              <a:buNone/>
            </a:pPr>
            <a:r>
              <a:rPr lang="en-US" sz="1150" b="1" dirty="0">
                <a:solidFill>
                  <a:schemeClr val="accent1"/>
                </a:solidFill>
              </a:rPr>
              <a:t>Evaluated, not assumed</a:t>
            </a:r>
            <a:endParaRPr lang="en-US" sz="1150" dirty="0"/>
          </a:p>
          <a:p>
            <a:pPr indent="0" marL="0">
              <a:buNone/>
            </a:pPr>
            <a:r>
              <a:rPr lang="en-US" sz="1000" dirty="0">
                <a:solidFill>
                  <a:schemeClr val="tx1"/>
                </a:solidFill>
              </a:rPr>
              <a:t>ADK eval set with LLM-judged response match and hallucination metrics, plus a rehearsal harness with fact checkers (next slide).</a:t>
            </a:r>
            <a:endParaRPr lang="en-US" sz="115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4. Technical merit</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Rehearsal and ADK evaluation: 45 of 45 reference answers correct, hallucination score 1.0, median answer about 20 seconds with two to three tool calls</a:t>
            </a:r>
            <a:endParaRPr lang="en-US" sz="2000" dirty="0"/>
          </a:p>
        </p:txBody>
      </p:sp>
      <p:sp>
        <p:nvSpPr>
          <p:cNvPr id="4" name="Text 2"/>
          <p:cNvSpPr txBox="1"/>
          <p:nvPr/>
        </p:nvSpPr>
        <p:spPr>
          <a:xfrm>
            <a:off x="502920" y="1645920"/>
            <a:ext cx="2377440" cy="822960"/>
          </a:xfrm>
          <a:prstGeom prst="rect">
            <a:avLst/>
          </a:prstGeom>
          <a:noFill/>
          <a:ln/>
        </p:spPr>
        <p:txBody>
          <a:bodyPr wrap="square" lIns="0" tIns="0" rIns="0" bIns="0" rtlCol="0" anchor="t"/>
          <a:lstStyle/>
          <a:p>
            <a:pPr algn="l" indent="0" marL="0">
              <a:buNone/>
            </a:pPr>
            <a:r>
              <a:rPr lang="en-US" sz="4000" b="1" dirty="0">
                <a:solidFill>
                  <a:schemeClr val="accent1"/>
                </a:solidFill>
              </a:rPr>
              <a:t>45 / 45</a:t>
            </a:r>
            <a:endParaRPr lang="en-US" sz="4000" dirty="0"/>
          </a:p>
        </p:txBody>
      </p:sp>
      <p:sp>
        <p:nvSpPr>
          <p:cNvPr id="5" name="Text 3"/>
          <p:cNvSpPr txBox="1"/>
          <p:nvPr/>
        </p:nvSpPr>
        <p:spPr>
          <a:xfrm>
            <a:off x="502920" y="2468880"/>
            <a:ext cx="2377440" cy="548640"/>
          </a:xfrm>
          <a:prstGeom prst="rect">
            <a:avLst/>
          </a:prstGeom>
          <a:noFill/>
          <a:ln/>
        </p:spPr>
        <p:txBody>
          <a:bodyPr wrap="square" lIns="0" tIns="0" rIns="0" bIns="0" rtlCol="0" anchor="t"/>
          <a:lstStyle/>
          <a:p>
            <a:pPr indent="0" marL="0">
              <a:buNone/>
            </a:pPr>
            <a:r>
              <a:rPr lang="en-US" sz="1100" dirty="0">
                <a:solidFill>
                  <a:schemeClr val="tx2"/>
                </a:solidFill>
              </a:rPr>
              <a:t>reference answers correct</a:t>
            </a:r>
            <a:endParaRPr lang="en-US" sz="1100" dirty="0"/>
          </a:p>
          <a:p>
            <a:pPr indent="0" marL="0">
              <a:buNone/>
            </a:pPr>
            <a:r>
              <a:rPr lang="en-US" sz="1100" dirty="0">
                <a:solidFill>
                  <a:schemeClr val="tx2"/>
                </a:solidFill>
              </a:rPr>
              <a:t>(9 cases × 5 runs, fact-checked)</a:t>
            </a:r>
            <a:endParaRPr lang="en-US" sz="1100" dirty="0"/>
          </a:p>
        </p:txBody>
      </p:sp>
      <p:sp>
        <p:nvSpPr>
          <p:cNvPr id="6" name="Text 4"/>
          <p:cNvSpPr txBox="1"/>
          <p:nvPr/>
        </p:nvSpPr>
        <p:spPr>
          <a:xfrm>
            <a:off x="3154680" y="1645920"/>
            <a:ext cx="2377440" cy="822960"/>
          </a:xfrm>
          <a:prstGeom prst="rect">
            <a:avLst/>
          </a:prstGeom>
          <a:noFill/>
          <a:ln/>
        </p:spPr>
        <p:txBody>
          <a:bodyPr wrap="square" lIns="0" tIns="0" rIns="0" bIns="0" rtlCol="0" anchor="t"/>
          <a:lstStyle/>
          <a:p>
            <a:pPr algn="l" indent="0" marL="0">
              <a:buNone/>
            </a:pPr>
            <a:r>
              <a:rPr lang="en-US" sz="4000" b="1" dirty="0">
                <a:solidFill>
                  <a:schemeClr val="accent1"/>
                </a:solidFill>
              </a:rPr>
              <a:t>1.0</a:t>
            </a:r>
            <a:endParaRPr lang="en-US" sz="4000" dirty="0"/>
          </a:p>
        </p:txBody>
      </p:sp>
      <p:sp>
        <p:nvSpPr>
          <p:cNvPr id="7" name="Text 5"/>
          <p:cNvSpPr txBox="1"/>
          <p:nvPr/>
        </p:nvSpPr>
        <p:spPr>
          <a:xfrm>
            <a:off x="3154680" y="2468880"/>
            <a:ext cx="2377440" cy="548640"/>
          </a:xfrm>
          <a:prstGeom prst="rect">
            <a:avLst/>
          </a:prstGeom>
          <a:noFill/>
          <a:ln/>
        </p:spPr>
        <p:txBody>
          <a:bodyPr wrap="square" lIns="0" tIns="0" rIns="0" bIns="0" rtlCol="0" anchor="t"/>
          <a:lstStyle/>
          <a:p>
            <a:pPr indent="0" marL="0">
              <a:buNone/>
            </a:pPr>
            <a:r>
              <a:rPr lang="en-US" sz="1100" dirty="0">
                <a:solidFill>
                  <a:schemeClr val="tx2"/>
                </a:solidFill>
              </a:rPr>
              <a:t>ADK hallucinations_v1</a:t>
            </a:r>
            <a:endParaRPr lang="en-US" sz="1100" dirty="0"/>
          </a:p>
          <a:p>
            <a:pPr indent="0" marL="0">
              <a:buNone/>
            </a:pPr>
            <a:r>
              <a:rPr lang="en-US" sz="1100" dirty="0">
                <a:solidFill>
                  <a:schemeClr val="tx2"/>
                </a:solidFill>
              </a:rPr>
              <a:t>(7 / 7 eval cases pass)</a:t>
            </a:r>
            <a:endParaRPr lang="en-US" sz="1100" dirty="0"/>
          </a:p>
        </p:txBody>
      </p:sp>
      <p:sp>
        <p:nvSpPr>
          <p:cNvPr id="8" name="Text 6"/>
          <p:cNvSpPr txBox="1"/>
          <p:nvPr/>
        </p:nvSpPr>
        <p:spPr>
          <a:xfrm>
            <a:off x="5806440" y="1645920"/>
            <a:ext cx="2377440" cy="822960"/>
          </a:xfrm>
          <a:prstGeom prst="rect">
            <a:avLst/>
          </a:prstGeom>
          <a:noFill/>
          <a:ln/>
        </p:spPr>
        <p:txBody>
          <a:bodyPr wrap="square" lIns="0" tIns="0" rIns="0" bIns="0" rtlCol="0" anchor="t"/>
          <a:lstStyle/>
          <a:p>
            <a:pPr algn="l" indent="0" marL="0">
              <a:buNone/>
            </a:pPr>
            <a:r>
              <a:rPr lang="en-US" sz="4000" b="1" dirty="0">
                <a:solidFill>
                  <a:schemeClr val="accent1"/>
                </a:solidFill>
              </a:rPr>
              <a:t>≈ 20 s</a:t>
            </a:r>
            <a:endParaRPr lang="en-US" sz="4000" dirty="0"/>
          </a:p>
        </p:txBody>
      </p:sp>
      <p:sp>
        <p:nvSpPr>
          <p:cNvPr id="9" name="Text 7"/>
          <p:cNvSpPr txBox="1"/>
          <p:nvPr/>
        </p:nvSpPr>
        <p:spPr>
          <a:xfrm>
            <a:off x="5806440" y="2468880"/>
            <a:ext cx="2377440" cy="548640"/>
          </a:xfrm>
          <a:prstGeom prst="rect">
            <a:avLst/>
          </a:prstGeom>
          <a:noFill/>
          <a:ln/>
        </p:spPr>
        <p:txBody>
          <a:bodyPr wrap="square" lIns="0" tIns="0" rIns="0" bIns="0" rtlCol="0" anchor="t"/>
          <a:lstStyle/>
          <a:p>
            <a:pPr indent="0" marL="0">
              <a:buNone/>
            </a:pPr>
            <a:r>
              <a:rPr lang="en-US" sz="1100" dirty="0">
                <a:solidFill>
                  <a:schemeClr val="tx2"/>
                </a:solidFill>
              </a:rPr>
              <a:t>median answer time</a:t>
            </a:r>
            <a:endParaRPr lang="en-US" sz="1100" dirty="0"/>
          </a:p>
          <a:p>
            <a:pPr indent="0" marL="0">
              <a:buNone/>
            </a:pPr>
            <a:r>
              <a:rPr lang="en-US" sz="1100" dirty="0">
                <a:solidFill>
                  <a:schemeClr val="tx2"/>
                </a:solidFill>
              </a:rPr>
              <a:t>2–3 tool calls</a:t>
            </a:r>
            <a:endParaRPr lang="en-US" sz="1100" dirty="0"/>
          </a:p>
        </p:txBody>
      </p:sp>
      <p:sp>
        <p:nvSpPr>
          <p:cNvPr id="10" name="Text 8"/>
          <p:cNvSpPr txBox="1"/>
          <p:nvPr/>
        </p:nvSpPr>
        <p:spPr>
          <a:xfrm>
            <a:off x="8458200" y="1645920"/>
            <a:ext cx="2926080" cy="822960"/>
          </a:xfrm>
          <a:prstGeom prst="rect">
            <a:avLst/>
          </a:prstGeom>
          <a:noFill/>
          <a:ln/>
        </p:spPr>
        <p:txBody>
          <a:bodyPr wrap="square" lIns="0" tIns="0" rIns="0" bIns="0" rtlCol="0" anchor="t"/>
          <a:lstStyle/>
          <a:p>
            <a:pPr algn="l" indent="0" marL="0">
              <a:buNone/>
            </a:pPr>
            <a:r>
              <a:rPr lang="en-US" sz="4000" b="1" dirty="0">
                <a:solidFill>
                  <a:srgbClr val="3C4049"/>
                </a:solidFill>
              </a:rPr>
              <a:t>0</a:t>
            </a:r>
            <a:endParaRPr lang="en-US" sz="4000" dirty="0"/>
          </a:p>
        </p:txBody>
      </p:sp>
      <p:sp>
        <p:nvSpPr>
          <p:cNvPr id="11" name="Text 9"/>
          <p:cNvSpPr txBox="1"/>
          <p:nvPr/>
        </p:nvSpPr>
        <p:spPr>
          <a:xfrm>
            <a:off x="8458200" y="2468880"/>
            <a:ext cx="2926080" cy="548640"/>
          </a:xfrm>
          <a:prstGeom prst="rect">
            <a:avLst/>
          </a:prstGeom>
          <a:noFill/>
          <a:ln/>
        </p:spPr>
        <p:txBody>
          <a:bodyPr wrap="square" lIns="0" tIns="0" rIns="0" bIns="0" rtlCol="0" anchor="t"/>
          <a:lstStyle/>
          <a:p>
            <a:pPr indent="0" marL="0">
              <a:buNone/>
            </a:pPr>
            <a:r>
              <a:rPr lang="en-US" sz="1100" dirty="0">
                <a:solidFill>
                  <a:schemeClr val="tx2"/>
                </a:solidFill>
              </a:rPr>
              <a:t>invented work-order IDs,</a:t>
            </a:r>
            <a:endParaRPr lang="en-US" sz="1100" dirty="0"/>
          </a:p>
          <a:p>
            <a:pPr indent="0" marL="0">
              <a:buNone/>
            </a:pPr>
            <a:r>
              <a:rPr lang="en-US" sz="1100" dirty="0">
                <a:solidFill>
                  <a:schemeClr val="tx2"/>
                </a:solidFill>
              </a:rPr>
              <a:t>parts or people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3246120"/>
          <a:ext cx="11183112" cy="914400"/>
        </p:xfrm>
        <a:graphic>
          <a:graphicData uri="http://schemas.openxmlformats.org/drawingml/2006/table">
            <a:tbl>
              <a:tblPr/>
              <a:tblGrid>
                <a:gridCol w="822960"/>
                <a:gridCol w="4846320"/>
                <a:gridCol w="1280160"/>
                <a:gridCol w="2377440"/>
                <a:gridCol w="1856232"/>
              </a:tblGrid>
              <a:tr h="0">
                <a:tc>
                  <a:txBody>
                    <a:bodyPr/>
                    <a:lstStyle/>
                    <a:p>
                      <a:pPr indent="0" marL="0">
                        <a:buNone/>
                      </a:pPr>
                      <a:r>
                        <a:rPr lang="en-US" sz="1050" b="1" dirty="0">
                          <a:solidFill>
                            <a:srgbClr val="000000"/>
                          </a:solidFill>
                        </a:rPr>
                        <a:t>Case</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DCE4FE"/>
                    </a:solidFill>
                  </a:tcPr>
                </a:tc>
                <a:tc>
                  <a:txBody>
                    <a:bodyPr/>
                    <a:lstStyle/>
                    <a:p>
                      <a:pPr indent="0" marL="0">
                        <a:buNone/>
                      </a:pPr>
                      <a:r>
                        <a:rPr lang="en-US" sz="1050" b="1" dirty="0">
                          <a:solidFill>
                            <a:srgbClr val="000000"/>
                          </a:solidFill>
                        </a:rPr>
                        <a:t>Question</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DCE4FE"/>
                    </a:solidFill>
                  </a:tcPr>
                </a:tc>
                <a:tc>
                  <a:txBody>
                    <a:bodyPr/>
                    <a:lstStyle/>
                    <a:p>
                      <a:pPr indent="0" marL="0">
                        <a:buNone/>
                      </a:pPr>
                      <a:r>
                        <a:rPr lang="en-US" sz="1050" b="1" dirty="0">
                          <a:solidFill>
                            <a:srgbClr val="000000"/>
                          </a:solidFill>
                        </a:rPr>
                        <a:t>Correct</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DCE4FE"/>
                    </a:solidFill>
                  </a:tcPr>
                </a:tc>
                <a:tc>
                  <a:txBody>
                    <a:bodyPr/>
                    <a:lstStyle/>
                    <a:p>
                      <a:pPr indent="0" marL="0">
                        <a:buNone/>
                      </a:pPr>
                      <a:r>
                        <a:rPr lang="en-US" sz="1050" b="1" dirty="0">
                          <a:solidFill>
                            <a:srgbClr val="000000"/>
                          </a:solidFill>
                        </a:rPr>
                        <a:t>Median (min–max)</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DCE4FE"/>
                    </a:solidFill>
                  </a:tcPr>
                </a:tc>
                <a:tc>
                  <a:txBody>
                    <a:bodyPr/>
                    <a:lstStyle/>
                    <a:p>
                      <a:pPr indent="0" marL="0">
                        <a:buNone/>
                      </a:pPr>
                      <a:r>
                        <a:rPr lang="en-US" sz="1050" b="1" dirty="0">
                          <a:solidFill>
                            <a:srgbClr val="000000"/>
                          </a:solidFill>
                        </a:rPr>
                        <a:t>Tool calls</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DCE4FE"/>
                    </a:solidFill>
                  </a:tcPr>
                </a:tc>
              </a:tr>
              <a:tr h="0">
                <a:tc>
                  <a:txBody>
                    <a:bodyPr/>
                    <a:lstStyle/>
                    <a:p>
                      <a:pPr indent="0" marL="0">
                        <a:buNone/>
                      </a:pPr>
                      <a:r>
                        <a:rPr lang="en-US" sz="1050" dirty="0">
                          <a:solidFill>
                            <a:srgbClr val="000000"/>
                          </a:solidFill>
                        </a:rPr>
                        <a:t>Q1</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P-301 vibrating: causes and past fixes (JA / EN)</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10 / 10</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23 s (18–32)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2.4</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Q2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Same model on other lines (follow-up)</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5 / 5</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32 s (22–42)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2.0</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Q3</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Parts in stock, lead times, certified technicians</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5 / 5</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24 s (22–30)</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Q4</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Most bearing-related stops in the last 12 months</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5 / 5</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26 s (20–37)</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2.6</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B2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Who can take over when T-01 retires</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5 / 5</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35 s (19–44)</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3.2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D2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Which machine uses bearing NU320 (keyword)</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5 / 5</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20 s (18–44)</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3.0</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0">
                <a:tc>
                  <a:txBody>
                    <a:bodyPr/>
                    <a:lstStyle/>
                    <a:p>
                      <a:pPr indent="0" marL="0">
                        <a:buNone/>
                      </a:pPr>
                      <a:r>
                        <a:rPr lang="en-US" sz="1050" dirty="0">
                          <a:solidFill>
                            <a:srgbClr val="000000"/>
                          </a:solidFill>
                        </a:rPr>
                        <a:t>E1 / E2</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Bearing failures on P-302 · unknown machine → “no record”</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10 / 10</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19–23 s</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indent="0" marL="0">
                        <a:buNone/>
                      </a:pPr>
                      <a:r>
                        <a:rPr lang="en-US" sz="1050" dirty="0">
                          <a:solidFill>
                            <a:srgbClr val="000000"/>
                          </a:solidFill>
                        </a:rPr>
                        <a:t>2.4–3.4</a:t>
                      </a:r>
                      <a:endParaRPr lang="en-US" sz="1050" dirty="0"/>
                    </a:p>
                  </a:txBody>
                  <a:tcPr marL="45720" marR="45720" marT="45720" marB="45720"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bl>
          </a:graphicData>
        </a:graphic>
      </p:graphicFrame>
      <p:sp>
        <p:nvSpPr>
          <p:cNvPr id="13" name="Text 10"/>
          <p:cNvSpPr txBox="1"/>
          <p:nvPr/>
        </p:nvSpPr>
        <p:spPr>
          <a:xfrm>
            <a:off x="502920" y="5806440"/>
            <a:ext cx="11183112" cy="502920"/>
          </a:xfrm>
          <a:prstGeom prst="rect">
            <a:avLst/>
          </a:prstGeom>
          <a:noFill/>
          <a:ln/>
        </p:spPr>
        <p:txBody>
          <a:bodyPr wrap="square" lIns="0" tIns="0" rIns="0" bIns="0" rtlCol="0" anchor="t"/>
          <a:lstStyle/>
          <a:p>
            <a:pPr indent="0" marL="0">
              <a:buNone/>
            </a:pPr>
            <a:r>
              <a:rPr lang="en-US" sz="950" dirty="0">
                <a:solidFill>
                  <a:schemeClr val="tx2"/>
                </a:solidFill>
              </a:rPr>
              <a:t>Rehearsal on the deployed AuraDB graph with gemini-3.8-flash, 2026-10-06 (agent/rehearse.py, log in docs/eval). ADK eval: final_response_match_v2 = 1.00 on all 7 cases, hallucinations_v1 = 1.00 on 6 cases and 0.86 on the three-turn conversation (judge gemini-3.5-flash, 3 samples).</a:t>
            </a:r>
            <a:endParaRPr lang="en-US" sz="95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5. Impact and innovation</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For a plant the value is hours of downtime avoided on every incident, patterns that registers hide, and know-how that survives retirements</a:t>
            </a:r>
            <a:endParaRPr lang="en-US" sz="2000" dirty="0"/>
          </a:p>
        </p:txBody>
      </p:sp>
      <p:sp>
        <p:nvSpPr>
          <p:cNvPr id="4" name="Text 2"/>
          <p:cNvSpPr txBox="1"/>
          <p:nvPr/>
        </p:nvSpPr>
        <p:spPr>
          <a:xfrm>
            <a:off x="502920" y="1554480"/>
            <a:ext cx="2651760" cy="822960"/>
          </a:xfrm>
          <a:prstGeom prst="rect">
            <a:avLst/>
          </a:prstGeom>
          <a:noFill/>
          <a:ln/>
        </p:spPr>
        <p:txBody>
          <a:bodyPr wrap="square" lIns="0" tIns="0" rIns="0" bIns="0" rtlCol="0" anchor="t"/>
          <a:lstStyle/>
          <a:p>
            <a:pPr algn="l" indent="0" marL="0">
              <a:buNone/>
            </a:pPr>
            <a:r>
              <a:rPr lang="en-US" sz="4000" b="1" dirty="0">
                <a:solidFill>
                  <a:schemeClr val="accent1"/>
                </a:solidFill>
              </a:rPr>
              <a:t>80</a:t>
            </a:r>
            <a:endParaRPr lang="en-US" sz="4000" dirty="0"/>
          </a:p>
        </p:txBody>
      </p:sp>
      <p:sp>
        <p:nvSpPr>
          <p:cNvPr id="5" name="Text 3"/>
          <p:cNvSpPr txBox="1"/>
          <p:nvPr/>
        </p:nvSpPr>
        <p:spPr>
          <a:xfrm>
            <a:off x="502920" y="2377440"/>
            <a:ext cx="2651760" cy="548640"/>
          </a:xfrm>
          <a:prstGeom prst="rect">
            <a:avLst/>
          </a:prstGeom>
          <a:noFill/>
          <a:ln/>
        </p:spPr>
        <p:txBody>
          <a:bodyPr wrap="square" lIns="0" tIns="0" rIns="0" bIns="0" rtlCol="0" anchor="t"/>
          <a:lstStyle/>
          <a:p>
            <a:pPr indent="0" marL="0">
              <a:buNone/>
            </a:pPr>
            <a:r>
              <a:rPr lang="en-US" sz="1100" dirty="0">
                <a:solidFill>
                  <a:schemeClr val="tx2"/>
                </a:solidFill>
              </a:rPr>
              <a:t>unplanned stops in two years at Plant A</a:t>
            </a:r>
            <a:endParaRPr lang="en-US" sz="1100" dirty="0"/>
          </a:p>
        </p:txBody>
      </p:sp>
      <p:sp>
        <p:nvSpPr>
          <p:cNvPr id="6" name="Text 4"/>
          <p:cNvSpPr txBox="1"/>
          <p:nvPr/>
        </p:nvSpPr>
        <p:spPr>
          <a:xfrm>
            <a:off x="3337560" y="1554480"/>
            <a:ext cx="2651760" cy="822960"/>
          </a:xfrm>
          <a:prstGeom prst="rect">
            <a:avLst/>
          </a:prstGeom>
          <a:noFill/>
          <a:ln/>
        </p:spPr>
        <p:txBody>
          <a:bodyPr wrap="square" lIns="0" tIns="0" rIns="0" bIns="0" rtlCol="0" anchor="t"/>
          <a:lstStyle/>
          <a:p>
            <a:pPr algn="l" indent="0" marL="0">
              <a:buNone/>
            </a:pPr>
            <a:r>
              <a:rPr lang="en-US" sz="4000" b="1" dirty="0">
                <a:solidFill>
                  <a:schemeClr val="accent1"/>
                </a:solidFill>
              </a:rPr>
              <a:t>935 min</a:t>
            </a:r>
            <a:endParaRPr lang="en-US" sz="4000" dirty="0"/>
          </a:p>
        </p:txBody>
      </p:sp>
      <p:sp>
        <p:nvSpPr>
          <p:cNvPr id="7" name="Text 5"/>
          <p:cNvSpPr txBox="1"/>
          <p:nvPr/>
        </p:nvSpPr>
        <p:spPr>
          <a:xfrm>
            <a:off x="3337560" y="2377440"/>
            <a:ext cx="2651760" cy="548640"/>
          </a:xfrm>
          <a:prstGeom prst="rect">
            <a:avLst/>
          </a:prstGeom>
          <a:noFill/>
          <a:ln/>
        </p:spPr>
        <p:txBody>
          <a:bodyPr wrap="square" lIns="0" tIns="0" rIns="0" bIns="0" rtlCol="0" anchor="t"/>
          <a:lstStyle/>
          <a:p>
            <a:pPr indent="0" marL="0">
              <a:buNone/>
            </a:pPr>
            <a:r>
              <a:rPr lang="en-US" sz="1100" dirty="0">
                <a:solidFill>
                  <a:schemeClr val="tx2"/>
                </a:solidFill>
              </a:rPr>
              <a:t>bearing-related downtime on one pump in 12 months</a:t>
            </a:r>
            <a:endParaRPr lang="en-US" sz="1100" dirty="0"/>
          </a:p>
        </p:txBody>
      </p:sp>
      <p:sp>
        <p:nvSpPr>
          <p:cNvPr id="8" name="Text 6"/>
          <p:cNvSpPr txBox="1"/>
          <p:nvPr/>
        </p:nvSpPr>
        <p:spPr>
          <a:xfrm>
            <a:off x="6172200" y="1554480"/>
            <a:ext cx="2651760" cy="822960"/>
          </a:xfrm>
          <a:prstGeom prst="rect">
            <a:avLst/>
          </a:prstGeom>
          <a:noFill/>
          <a:ln/>
        </p:spPr>
        <p:txBody>
          <a:bodyPr wrap="square" lIns="0" tIns="0" rIns="0" bIns="0" rtlCol="0" anchor="t"/>
          <a:lstStyle/>
          <a:p>
            <a:pPr algn="l" indent="0" marL="0">
              <a:buNone/>
            </a:pPr>
            <a:r>
              <a:rPr lang="en-US" sz="4000" b="1" dirty="0">
                <a:solidFill>
                  <a:srgbClr val="3C4049"/>
                </a:solidFill>
              </a:rPr>
              <a:t>1</a:t>
            </a:r>
            <a:endParaRPr lang="en-US" sz="4000" dirty="0"/>
          </a:p>
        </p:txBody>
      </p:sp>
      <p:sp>
        <p:nvSpPr>
          <p:cNvPr id="9" name="Text 7"/>
          <p:cNvSpPr txBox="1"/>
          <p:nvPr/>
        </p:nvSpPr>
        <p:spPr>
          <a:xfrm>
            <a:off x="6172200" y="2377440"/>
            <a:ext cx="2651760" cy="548640"/>
          </a:xfrm>
          <a:prstGeom prst="rect">
            <a:avLst/>
          </a:prstGeom>
          <a:noFill/>
          <a:ln/>
        </p:spPr>
        <p:txBody>
          <a:bodyPr wrap="square" lIns="0" tIns="0" rIns="0" bIns="0" rtlCol="0" anchor="t"/>
          <a:lstStyle/>
          <a:p>
            <a:pPr indent="0" marL="0">
              <a:buNone/>
            </a:pPr>
            <a:r>
              <a:rPr lang="en-US" sz="1100" dirty="0">
                <a:solidFill>
                  <a:schemeClr val="tx2"/>
                </a:solidFill>
              </a:rPr>
              <a:t>technician holding the only press certification, retiring FY2026</a:t>
            </a:r>
            <a:endParaRPr lang="en-US" sz="1100" dirty="0"/>
          </a:p>
        </p:txBody>
      </p:sp>
      <p:sp>
        <p:nvSpPr>
          <p:cNvPr id="10" name="Text 8"/>
          <p:cNvSpPr txBox="1"/>
          <p:nvPr/>
        </p:nvSpPr>
        <p:spPr>
          <a:xfrm>
            <a:off x="9006840" y="1554480"/>
            <a:ext cx="2926080" cy="822960"/>
          </a:xfrm>
          <a:prstGeom prst="rect">
            <a:avLst/>
          </a:prstGeom>
          <a:noFill/>
          <a:ln/>
        </p:spPr>
        <p:txBody>
          <a:bodyPr wrap="square" lIns="0" tIns="0" rIns="0" bIns="0" rtlCol="0" anchor="t"/>
          <a:lstStyle/>
          <a:p>
            <a:pPr algn="l" indent="0" marL="0">
              <a:buNone/>
            </a:pPr>
            <a:r>
              <a:rPr lang="en-US" sz="4000" b="1" dirty="0">
                <a:solidFill>
                  <a:schemeClr val="accent1"/>
                </a:solidFill>
              </a:rPr>
              <a:t>≈ 20 s</a:t>
            </a:r>
            <a:endParaRPr lang="en-US" sz="4000" dirty="0"/>
          </a:p>
        </p:txBody>
      </p:sp>
      <p:sp>
        <p:nvSpPr>
          <p:cNvPr id="11" name="Text 9"/>
          <p:cNvSpPr txBox="1"/>
          <p:nvPr/>
        </p:nvSpPr>
        <p:spPr>
          <a:xfrm>
            <a:off x="9006840" y="2377440"/>
            <a:ext cx="2926080" cy="548640"/>
          </a:xfrm>
          <a:prstGeom prst="rect">
            <a:avLst/>
          </a:prstGeom>
          <a:noFill/>
          <a:ln/>
        </p:spPr>
        <p:txBody>
          <a:bodyPr wrap="square" lIns="0" tIns="0" rIns="0" bIns="0" rtlCol="0" anchor="t"/>
          <a:lstStyle/>
          <a:p>
            <a:pPr indent="0" marL="0">
              <a:buNone/>
            </a:pPr>
            <a:r>
              <a:rPr lang="en-US" sz="1100" dirty="0">
                <a:solidFill>
                  <a:schemeClr val="tx2"/>
                </a:solidFill>
              </a:rPr>
              <a:t>from question to ranked causes, parts and people</a:t>
            </a:r>
            <a:endParaRPr lang="en-US" sz="1100" dirty="0"/>
          </a:p>
        </p:txBody>
      </p:sp>
      <p:sp>
        <p:nvSpPr>
          <p:cNvPr id="12" name="Shape 10"/>
          <p:cNvSpPr/>
          <p:nvPr/>
        </p:nvSpPr>
        <p:spPr>
          <a:xfrm>
            <a:off x="502920" y="3063240"/>
            <a:ext cx="3544824" cy="2651760"/>
          </a:xfrm>
          <a:prstGeom prst="roundRect">
            <a:avLst>
              <a:gd name="adj" fmla="val 2759"/>
            </a:avLst>
          </a:prstGeom>
          <a:solidFill>
            <a:schemeClr val="accent3"/>
          </a:solidFill>
          <a:ln w="12700">
            <a:solidFill>
              <a:schemeClr val="accent3"/>
            </a:solidFill>
            <a:prstDash val="solid"/>
          </a:ln>
        </p:spPr>
      </p:sp>
      <p:sp>
        <p:nvSpPr>
          <p:cNvPr id="13" name="Shape 11"/>
          <p:cNvSpPr/>
          <p:nvPr/>
        </p:nvSpPr>
        <p:spPr>
          <a:xfrm>
            <a:off x="731520" y="3291840"/>
            <a:ext cx="548640" cy="548640"/>
          </a:xfrm>
          <a:prstGeom prst="ellipse">
            <a:avLst/>
          </a:prstGeom>
          <a:solidFill>
            <a:schemeClr val="bg1"/>
          </a:solidFill>
          <a:ln w="12700">
            <a:solidFill>
              <a:schemeClr val="bg1"/>
            </a:solidFill>
            <a:prstDash val="solid"/>
          </a:ln>
        </p:spPr>
      </p:sp>
      <p:pic>
        <p:nvPicPr>
          <p:cNvPr id="14" name="Image 0" descr="preencoded.png">    </p:cNvPr>
          <p:cNvPicPr>
            <a:picLocks noChangeAspect="1"/>
          </p:cNvPicPr>
          <p:nvPr/>
        </p:nvPicPr>
        <p:blipFill>
          <a:blip r:embed="rId1"/>
          <a:stretch>
            <a:fillRect/>
          </a:stretch>
        </p:blipFill>
        <p:spPr>
          <a:xfrm>
            <a:off x="852221" y="3412541"/>
            <a:ext cx="307238" cy="307238"/>
          </a:xfrm>
          <a:prstGeom prst="rect">
            <a:avLst/>
          </a:prstGeom>
        </p:spPr>
      </p:pic>
      <p:sp>
        <p:nvSpPr>
          <p:cNvPr id="15" name="Text 12"/>
          <p:cNvSpPr txBox="1"/>
          <p:nvPr/>
        </p:nvSpPr>
        <p:spPr>
          <a:xfrm>
            <a:off x="1417320" y="3319272"/>
            <a:ext cx="2401824" cy="502920"/>
          </a:xfrm>
          <a:prstGeom prst="rect">
            <a:avLst/>
          </a:prstGeom>
          <a:noFill/>
          <a:ln/>
        </p:spPr>
        <p:txBody>
          <a:bodyPr wrap="square" lIns="0" tIns="0" rIns="0" bIns="0" rtlCol="0" anchor="t"/>
          <a:lstStyle/>
          <a:p>
            <a:pPr indent="0" marL="0">
              <a:buNone/>
            </a:pPr>
            <a:r>
              <a:rPr lang="en-US" sz="1400" b="1" dirty="0">
                <a:solidFill>
                  <a:schemeClr val="tx1"/>
                </a:solidFill>
              </a:rPr>
              <a:t>Faster diagnosis on every stop</a:t>
            </a:r>
            <a:endParaRPr lang="en-US" sz="1400" dirty="0"/>
          </a:p>
        </p:txBody>
      </p:sp>
      <p:sp>
        <p:nvSpPr>
          <p:cNvPr id="16" name="Text 13"/>
          <p:cNvSpPr txBox="1"/>
          <p:nvPr/>
        </p:nvSpPr>
        <p:spPr>
          <a:xfrm>
            <a:off x="731520" y="3931920"/>
            <a:ext cx="308762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chemeClr val="tx1"/>
                </a:solidFill>
              </a:rPr>
              <a:t>Plant A: 80 unplanned stops in two years, 9 bearing-related in the last 12 months alone (P-301: 3 stops, 935 minutes).</a:t>
            </a:r>
            <a:endParaRPr lang="en-US" sz="1050" dirty="0"/>
          </a:p>
          <a:p>
            <a:pPr marL="342900" indent="-342900">
              <a:spcAft>
                <a:spcPts val="400"/>
              </a:spcAft>
              <a:buSzPct val="100000"/>
              <a:buChar char="•"/>
            </a:pPr>
            <a:r>
              <a:rPr lang="en-US" sz="1050" dirty="0">
                <a:solidFill>
                  <a:schemeClr val="tx1"/>
                </a:solidFill>
              </a:rPr>
              <a:t>The agent returns ranked causes, the procedure, parts and people in about 20 seconds instead of a search across four systems.</a:t>
            </a:r>
            <a:endParaRPr lang="en-US" sz="1050" dirty="0"/>
          </a:p>
          <a:p>
            <a:pPr marL="342900" indent="-342900">
              <a:spcAft>
                <a:spcPts val="400"/>
              </a:spcAft>
              <a:buSzPct val="100000"/>
              <a:buChar char="•"/>
            </a:pPr>
            <a:r>
              <a:rPr lang="en-US" sz="1050" dirty="0">
                <a:solidFill>
                  <a:schemeClr val="tx1"/>
                </a:solidFill>
              </a:rPr>
              <a:t>Illustrative: one hour saved per incident × 40 incidents a year × ¥500k per hour of line stop (assumption) ≈ ¥20M a year per plant.</a:t>
            </a:r>
            <a:endParaRPr lang="en-US" sz="1050" dirty="0"/>
          </a:p>
        </p:txBody>
      </p:sp>
      <p:sp>
        <p:nvSpPr>
          <p:cNvPr id="17" name="Shape 14"/>
          <p:cNvSpPr/>
          <p:nvPr/>
        </p:nvSpPr>
        <p:spPr>
          <a:xfrm>
            <a:off x="4322064" y="3063240"/>
            <a:ext cx="3544824" cy="2651760"/>
          </a:xfrm>
          <a:prstGeom prst="roundRect">
            <a:avLst>
              <a:gd name="adj" fmla="val 2759"/>
            </a:avLst>
          </a:prstGeom>
          <a:solidFill>
            <a:schemeClr val="accent3"/>
          </a:solidFill>
          <a:ln w="12700">
            <a:solidFill>
              <a:schemeClr val="accent3"/>
            </a:solidFill>
            <a:prstDash val="solid"/>
          </a:ln>
        </p:spPr>
      </p:sp>
      <p:sp>
        <p:nvSpPr>
          <p:cNvPr id="18" name="Shape 15"/>
          <p:cNvSpPr/>
          <p:nvPr/>
        </p:nvSpPr>
        <p:spPr>
          <a:xfrm>
            <a:off x="4550664" y="3291840"/>
            <a:ext cx="548640" cy="548640"/>
          </a:xfrm>
          <a:prstGeom prst="ellipse">
            <a:avLst/>
          </a:prstGeom>
          <a:solidFill>
            <a:schemeClr val="bg1"/>
          </a:solidFill>
          <a:ln w="12700">
            <a:solidFill>
              <a:schemeClr val="bg1"/>
            </a:solidFill>
            <a:prstDash val="solid"/>
          </a:ln>
        </p:spPr>
      </p:sp>
      <p:pic>
        <p:nvPicPr>
          <p:cNvPr id="19" name="Image 1" descr="preencoded.png">    </p:cNvPr>
          <p:cNvPicPr>
            <a:picLocks noChangeAspect="1"/>
          </p:cNvPicPr>
          <p:nvPr/>
        </p:nvPicPr>
        <p:blipFill>
          <a:blip r:embed="rId2"/>
          <a:stretch>
            <a:fillRect/>
          </a:stretch>
        </p:blipFill>
        <p:spPr>
          <a:xfrm>
            <a:off x="4671365" y="3412541"/>
            <a:ext cx="307238" cy="307238"/>
          </a:xfrm>
          <a:prstGeom prst="rect">
            <a:avLst/>
          </a:prstGeom>
        </p:spPr>
      </p:pic>
      <p:sp>
        <p:nvSpPr>
          <p:cNvPr id="20" name="Text 16"/>
          <p:cNvSpPr txBox="1"/>
          <p:nvPr/>
        </p:nvSpPr>
        <p:spPr>
          <a:xfrm>
            <a:off x="5236464" y="3319272"/>
            <a:ext cx="2401824" cy="502920"/>
          </a:xfrm>
          <a:prstGeom prst="rect">
            <a:avLst/>
          </a:prstGeom>
          <a:noFill/>
          <a:ln/>
        </p:spPr>
        <p:txBody>
          <a:bodyPr wrap="square" lIns="0" tIns="0" rIns="0" bIns="0" rtlCol="0" anchor="t"/>
          <a:lstStyle/>
          <a:p>
            <a:pPr indent="0" marL="0">
              <a:buNone/>
            </a:pPr>
            <a:r>
              <a:rPr lang="en-US" sz="1400" b="1" dirty="0">
                <a:solidFill>
                  <a:schemeClr val="tx1"/>
                </a:solidFill>
              </a:rPr>
              <a:t>Patterns registers hide</a:t>
            </a:r>
            <a:endParaRPr lang="en-US" sz="1400" dirty="0"/>
          </a:p>
        </p:txBody>
      </p:sp>
      <p:sp>
        <p:nvSpPr>
          <p:cNvPr id="21" name="Text 17"/>
          <p:cNvSpPr txBox="1"/>
          <p:nvPr/>
        </p:nvSpPr>
        <p:spPr>
          <a:xfrm>
            <a:off x="4550664" y="3931920"/>
            <a:ext cx="308762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chemeClr val="tx1"/>
                </a:solidFill>
              </a:rPr>
              <a:t>Same-model failures across lines (P-101 ×4, P-201 ×1) surface in one answer.</a:t>
            </a:r>
            <a:endParaRPr lang="en-US" sz="1050" dirty="0"/>
          </a:p>
          <a:p>
            <a:pPr marL="342900" indent="-342900">
              <a:spcAft>
                <a:spcPts val="400"/>
              </a:spcAft>
              <a:buSzPct val="100000"/>
              <a:buChar char="•"/>
            </a:pPr>
            <a:r>
              <a:rPr lang="en-US" sz="1050" dirty="0">
                <a:solidFill>
                  <a:schemeClr val="tx1"/>
                </a:solidFill>
              </a:rPr>
              <a:t>A part shared by 8 machines with stock for two replacements; procedures that depend on a zero-stock part.</a:t>
            </a:r>
            <a:endParaRPr lang="en-US" sz="1050" dirty="0"/>
          </a:p>
          <a:p>
            <a:pPr marL="342900" indent="-342900">
              <a:spcAft>
                <a:spcPts val="400"/>
              </a:spcAft>
              <a:buSzPct val="100000"/>
              <a:buChar char="•"/>
            </a:pPr>
            <a:r>
              <a:rPr lang="en-US" sz="1050" dirty="0">
                <a:solidFill>
                  <a:schemeClr val="tx1"/>
                </a:solidFill>
              </a:rPr>
              <a:t>Bearing-related downtime concentrated on the CP-200 pumps: a maintenance-plan decision, not a repair.</a:t>
            </a:r>
            <a:endParaRPr lang="en-US" sz="1050" dirty="0"/>
          </a:p>
        </p:txBody>
      </p:sp>
      <p:sp>
        <p:nvSpPr>
          <p:cNvPr id="22" name="Shape 18"/>
          <p:cNvSpPr/>
          <p:nvPr/>
        </p:nvSpPr>
        <p:spPr>
          <a:xfrm>
            <a:off x="8141208" y="3063240"/>
            <a:ext cx="3544824" cy="2651760"/>
          </a:xfrm>
          <a:prstGeom prst="roundRect">
            <a:avLst>
              <a:gd name="adj" fmla="val 2759"/>
            </a:avLst>
          </a:prstGeom>
          <a:solidFill>
            <a:schemeClr val="accent3"/>
          </a:solidFill>
          <a:ln w="12700">
            <a:solidFill>
              <a:schemeClr val="accent3"/>
            </a:solidFill>
            <a:prstDash val="solid"/>
          </a:ln>
        </p:spPr>
      </p:sp>
      <p:sp>
        <p:nvSpPr>
          <p:cNvPr id="23" name="Shape 19"/>
          <p:cNvSpPr/>
          <p:nvPr/>
        </p:nvSpPr>
        <p:spPr>
          <a:xfrm>
            <a:off x="8369808" y="3291840"/>
            <a:ext cx="548640" cy="548640"/>
          </a:xfrm>
          <a:prstGeom prst="ellipse">
            <a:avLst/>
          </a:prstGeom>
          <a:solidFill>
            <a:schemeClr val="bg1"/>
          </a:solidFill>
          <a:ln w="12700">
            <a:solidFill>
              <a:schemeClr val="bg1"/>
            </a:solidFill>
            <a:prstDash val="solid"/>
          </a:ln>
        </p:spPr>
      </p:sp>
      <p:pic>
        <p:nvPicPr>
          <p:cNvPr id="24" name="Image 2" descr="preencoded.png">    </p:cNvPr>
          <p:cNvPicPr>
            <a:picLocks noChangeAspect="1"/>
          </p:cNvPicPr>
          <p:nvPr/>
        </p:nvPicPr>
        <p:blipFill>
          <a:blip r:embed="rId3"/>
          <a:stretch>
            <a:fillRect/>
          </a:stretch>
        </p:blipFill>
        <p:spPr>
          <a:xfrm>
            <a:off x="8490509" y="3412541"/>
            <a:ext cx="307238" cy="307238"/>
          </a:xfrm>
          <a:prstGeom prst="rect">
            <a:avLst/>
          </a:prstGeom>
        </p:spPr>
      </p:pic>
      <p:sp>
        <p:nvSpPr>
          <p:cNvPr id="25" name="Text 20"/>
          <p:cNvSpPr txBox="1"/>
          <p:nvPr/>
        </p:nvSpPr>
        <p:spPr>
          <a:xfrm>
            <a:off x="9055608" y="3319272"/>
            <a:ext cx="2401824" cy="502920"/>
          </a:xfrm>
          <a:prstGeom prst="rect">
            <a:avLst/>
          </a:prstGeom>
          <a:noFill/>
          <a:ln/>
        </p:spPr>
        <p:txBody>
          <a:bodyPr wrap="square" lIns="0" tIns="0" rIns="0" bIns="0" rtlCol="0" anchor="t"/>
          <a:lstStyle/>
          <a:p>
            <a:pPr indent="0" marL="0">
              <a:buNone/>
            </a:pPr>
            <a:r>
              <a:rPr lang="en-US" sz="1400" b="1" dirty="0">
                <a:solidFill>
                  <a:schemeClr val="tx1"/>
                </a:solidFill>
              </a:rPr>
              <a:t>Know-how that survives</a:t>
            </a:r>
            <a:endParaRPr lang="en-US" sz="1400" dirty="0"/>
          </a:p>
        </p:txBody>
      </p:sp>
      <p:sp>
        <p:nvSpPr>
          <p:cNvPr id="26" name="Text 21"/>
          <p:cNvSpPr txBox="1"/>
          <p:nvPr/>
        </p:nvSpPr>
        <p:spPr>
          <a:xfrm>
            <a:off x="8369808" y="3931920"/>
            <a:ext cx="308762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chemeClr val="tx1"/>
                </a:solidFill>
              </a:rPr>
              <a:t>One technician holds the only press certification and retires in FY2026; the graph shows which procedures have no successor.</a:t>
            </a:r>
            <a:endParaRPr lang="en-US" sz="1050" dirty="0"/>
          </a:p>
          <a:p>
            <a:pPr marL="342900" indent="-342900">
              <a:spcAft>
                <a:spcPts val="400"/>
              </a:spcAft>
              <a:buSzPct val="100000"/>
              <a:buChar char="•"/>
            </a:pPr>
            <a:r>
              <a:rPr lang="en-US" sz="1050" dirty="0">
                <a:solidFill>
                  <a:schemeClr val="tx1"/>
                </a:solidFill>
              </a:rPr>
              <a:t>Work orders become searchable history; manual pages become cited evidence.</a:t>
            </a:r>
            <a:endParaRPr lang="en-US" sz="1050" dirty="0"/>
          </a:p>
          <a:p>
            <a:pPr marL="342900" indent="-342900">
              <a:spcAft>
                <a:spcPts val="400"/>
              </a:spcAft>
              <a:buSzPct val="100000"/>
              <a:buChar char="•"/>
            </a:pPr>
            <a:r>
              <a:rPr lang="en-US" sz="1050" dirty="0">
                <a:solidFill>
                  <a:schemeClr val="tx1"/>
                </a:solidFill>
              </a:rPr>
              <a:t>New engineers and night shifts get the veteran's path, with the IDs to verify it.</a:t>
            </a:r>
            <a:endParaRPr lang="en-US" sz="1050" dirty="0"/>
          </a:p>
        </p:txBody>
      </p:sp>
      <p:sp>
        <p:nvSpPr>
          <p:cNvPr id="27" name="Shape 22"/>
          <p:cNvSpPr/>
          <p:nvPr/>
        </p:nvSpPr>
        <p:spPr>
          <a:xfrm>
            <a:off x="502920" y="5852160"/>
            <a:ext cx="11183112" cy="457200"/>
          </a:xfrm>
          <a:prstGeom prst="roundRect">
            <a:avLst>
              <a:gd name="adj" fmla="val 16000"/>
            </a:avLst>
          </a:prstGeom>
          <a:solidFill>
            <a:schemeClr val="bg2"/>
          </a:solidFill>
          <a:ln w="12700">
            <a:solidFill>
              <a:schemeClr val="bg2"/>
            </a:solidFill>
            <a:prstDash val="solid"/>
          </a:ln>
        </p:spPr>
      </p:sp>
      <p:sp>
        <p:nvSpPr>
          <p:cNvPr id="28" name="Text 23"/>
          <p:cNvSpPr txBox="1"/>
          <p:nvPr/>
        </p:nvSpPr>
        <p:spPr>
          <a:xfrm>
            <a:off x="777240" y="5870448"/>
            <a:ext cx="10634472" cy="420624"/>
          </a:xfrm>
          <a:prstGeom prst="rect">
            <a:avLst/>
          </a:prstGeom>
          <a:noFill/>
          <a:ln/>
        </p:spPr>
        <p:txBody>
          <a:bodyPr wrap="square" lIns="0" tIns="0" rIns="0" bIns="0" rtlCol="0" anchor="ctr"/>
          <a:lstStyle/>
          <a:p>
            <a:pPr indent="0" marL="0">
              <a:buNone/>
            </a:pPr>
            <a:r>
              <a:rPr lang="en-US" sz="1000" dirty="0">
                <a:solidFill>
                  <a:schemeClr val="tx1"/>
                </a:solidFill>
              </a:rPr>
              <a:t>Cost figures are illustrative assumptions for a mid-size plant, to be replaced with a customer plant's own downtime cost and incident counts in the four-week pilot.</a:t>
            </a:r>
            <a:endParaRPr lang="en-US" sz="10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5. Impact and innovation</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What is new: answers grounded in an ontology with graph evidence, bilingual access to Japanese floor documents, and an agent that is read-only and says “no record”</a:t>
            </a:r>
            <a:endParaRPr lang="en-US" sz="2000" dirty="0"/>
          </a:p>
        </p:txBody>
      </p:sp>
      <p:sp>
        <p:nvSpPr>
          <p:cNvPr id="4" name="Shape 2"/>
          <p:cNvSpPr/>
          <p:nvPr/>
        </p:nvSpPr>
        <p:spPr>
          <a:xfrm>
            <a:off x="502920" y="1645920"/>
            <a:ext cx="3544824" cy="3291840"/>
          </a:xfrm>
          <a:prstGeom prst="roundRect">
            <a:avLst>
              <a:gd name="adj" fmla="val 2222"/>
            </a:avLst>
          </a:prstGeom>
          <a:solidFill>
            <a:schemeClr val="accent3"/>
          </a:solidFill>
          <a:ln w="12700">
            <a:solidFill>
              <a:schemeClr val="accent3"/>
            </a:solidFill>
            <a:prstDash val="solid"/>
          </a:ln>
        </p:spPr>
      </p:sp>
      <p:sp>
        <p:nvSpPr>
          <p:cNvPr id="5" name="Shape 3"/>
          <p:cNvSpPr/>
          <p:nvPr/>
        </p:nvSpPr>
        <p:spPr>
          <a:xfrm>
            <a:off x="731520" y="1874520"/>
            <a:ext cx="548640" cy="54864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852221" y="1995221"/>
            <a:ext cx="307238" cy="307238"/>
          </a:xfrm>
          <a:prstGeom prst="rect">
            <a:avLst/>
          </a:prstGeom>
        </p:spPr>
      </p:pic>
      <p:sp>
        <p:nvSpPr>
          <p:cNvPr id="7" name="Text 4"/>
          <p:cNvSpPr txBox="1"/>
          <p:nvPr/>
        </p:nvSpPr>
        <p:spPr>
          <a:xfrm>
            <a:off x="1417320" y="1901952"/>
            <a:ext cx="2401824" cy="502920"/>
          </a:xfrm>
          <a:prstGeom prst="rect">
            <a:avLst/>
          </a:prstGeom>
          <a:noFill/>
          <a:ln/>
        </p:spPr>
        <p:txBody>
          <a:bodyPr wrap="square" lIns="0" tIns="0" rIns="0" bIns="0" rtlCol="0" anchor="t"/>
          <a:lstStyle/>
          <a:p>
            <a:pPr indent="0" marL="0">
              <a:buNone/>
            </a:pPr>
            <a:r>
              <a:rPr lang="en-US" sz="1400" b="1" dirty="0">
                <a:solidFill>
                  <a:schemeClr val="tx1"/>
                </a:solidFill>
              </a:rPr>
              <a:t>Ontology-grounded GraphRAG</a:t>
            </a:r>
            <a:endParaRPr lang="en-US" sz="1400" dirty="0"/>
          </a:p>
        </p:txBody>
      </p:sp>
      <p:sp>
        <p:nvSpPr>
          <p:cNvPr id="8" name="Text 5"/>
          <p:cNvSpPr txBox="1"/>
          <p:nvPr/>
        </p:nvSpPr>
        <p:spPr>
          <a:xfrm>
            <a:off x="731520" y="2514600"/>
            <a:ext cx="3087624" cy="22402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Vector search only chooses where to start; the content of the answer comes from graph structure, so every claim maps to a node and a path.</a:t>
            </a:r>
            <a:endParaRPr lang="en-US" sz="1150" dirty="0"/>
          </a:p>
          <a:p>
            <a:pPr marL="342900" indent="-342900">
              <a:spcAft>
                <a:spcPts val="400"/>
              </a:spcAft>
              <a:buSzPct val="100000"/>
              <a:buChar char="•"/>
            </a:pPr>
            <a:r>
              <a:rPr lang="en-US" sz="1150" dirty="0">
                <a:solidFill>
                  <a:schemeClr val="tx1"/>
                </a:solidFill>
              </a:rPr>
              <a:t>Cross-line, aggregation and “who can do it” questions that document RAG cannot answer become one Cypher query.</a:t>
            </a:r>
            <a:endParaRPr lang="en-US" sz="1150" dirty="0"/>
          </a:p>
        </p:txBody>
      </p:sp>
      <p:sp>
        <p:nvSpPr>
          <p:cNvPr id="9" name="Shape 6"/>
          <p:cNvSpPr/>
          <p:nvPr/>
        </p:nvSpPr>
        <p:spPr>
          <a:xfrm>
            <a:off x="4322064" y="1645920"/>
            <a:ext cx="3544824" cy="3291840"/>
          </a:xfrm>
          <a:prstGeom prst="roundRect">
            <a:avLst>
              <a:gd name="adj" fmla="val 2222"/>
            </a:avLst>
          </a:prstGeom>
          <a:solidFill>
            <a:schemeClr val="accent3"/>
          </a:solidFill>
          <a:ln w="12700">
            <a:solidFill>
              <a:schemeClr val="accent3"/>
            </a:solidFill>
            <a:prstDash val="solid"/>
          </a:ln>
        </p:spPr>
      </p:sp>
      <p:sp>
        <p:nvSpPr>
          <p:cNvPr id="10" name="Shape 7"/>
          <p:cNvSpPr/>
          <p:nvPr/>
        </p:nvSpPr>
        <p:spPr>
          <a:xfrm>
            <a:off x="4550664" y="1874520"/>
            <a:ext cx="548640" cy="548640"/>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4671365" y="1995221"/>
            <a:ext cx="307238" cy="307238"/>
          </a:xfrm>
          <a:prstGeom prst="rect">
            <a:avLst/>
          </a:prstGeom>
        </p:spPr>
      </p:pic>
      <p:sp>
        <p:nvSpPr>
          <p:cNvPr id="12" name="Text 8"/>
          <p:cNvSpPr txBox="1"/>
          <p:nvPr/>
        </p:nvSpPr>
        <p:spPr>
          <a:xfrm>
            <a:off x="5236464" y="1901952"/>
            <a:ext cx="2401824" cy="502920"/>
          </a:xfrm>
          <a:prstGeom prst="rect">
            <a:avLst/>
          </a:prstGeom>
          <a:noFill/>
          <a:ln/>
        </p:spPr>
        <p:txBody>
          <a:bodyPr wrap="square" lIns="0" tIns="0" rIns="0" bIns="0" rtlCol="0" anchor="t"/>
          <a:lstStyle/>
          <a:p>
            <a:pPr indent="0" marL="0">
              <a:buNone/>
            </a:pPr>
            <a:r>
              <a:rPr lang="en-US" sz="1400" b="1" dirty="0">
                <a:solidFill>
                  <a:schemeClr val="tx1"/>
                </a:solidFill>
              </a:rPr>
              <a:t>Built for Japanese plants</a:t>
            </a:r>
            <a:endParaRPr lang="en-US" sz="1400" dirty="0"/>
          </a:p>
        </p:txBody>
      </p:sp>
      <p:sp>
        <p:nvSpPr>
          <p:cNvPr id="13" name="Text 9"/>
          <p:cNvSpPr txBox="1"/>
          <p:nvPr/>
        </p:nvSpPr>
        <p:spPr>
          <a:xfrm>
            <a:off x="4550664" y="2514600"/>
            <a:ext cx="3087624" cy="22402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Registers, work orders and manuals stay in Japanese; the master data carries Gemini-generated English names.</a:t>
            </a:r>
            <a:endParaRPr lang="en-US" sz="1150" dirty="0"/>
          </a:p>
          <a:p>
            <a:pPr marL="342900" indent="-342900">
              <a:spcAft>
                <a:spcPts val="400"/>
              </a:spcAft>
              <a:buSzPct val="100000"/>
              <a:buChar char="•"/>
            </a:pPr>
            <a:r>
              <a:rPr lang="en-US" sz="1150" dirty="0">
                <a:solidFill>
                  <a:schemeClr val="tx1"/>
                </a:solidFill>
              </a:rPr>
              <a:t>An engineer asks in either language and gets the same IDs. JAPAC plants with mixed teams get one assistant.</a:t>
            </a:r>
            <a:endParaRPr lang="en-US" sz="1150" dirty="0"/>
          </a:p>
        </p:txBody>
      </p:sp>
      <p:sp>
        <p:nvSpPr>
          <p:cNvPr id="14" name="Shape 10"/>
          <p:cNvSpPr/>
          <p:nvPr/>
        </p:nvSpPr>
        <p:spPr>
          <a:xfrm>
            <a:off x="8141208" y="1645920"/>
            <a:ext cx="3544824" cy="3291840"/>
          </a:xfrm>
          <a:prstGeom prst="roundRect">
            <a:avLst>
              <a:gd name="adj" fmla="val 2222"/>
            </a:avLst>
          </a:prstGeom>
          <a:solidFill>
            <a:schemeClr val="accent3"/>
          </a:solidFill>
          <a:ln w="12700">
            <a:solidFill>
              <a:schemeClr val="accent3"/>
            </a:solidFill>
            <a:prstDash val="solid"/>
          </a:ln>
        </p:spPr>
      </p:sp>
      <p:sp>
        <p:nvSpPr>
          <p:cNvPr id="15" name="Shape 11"/>
          <p:cNvSpPr/>
          <p:nvPr/>
        </p:nvSpPr>
        <p:spPr>
          <a:xfrm>
            <a:off x="8369808" y="1874520"/>
            <a:ext cx="548640" cy="548640"/>
          </a:xfrm>
          <a:prstGeom prst="ellipse">
            <a:avLst/>
          </a:prstGeom>
          <a:solidFill>
            <a:schemeClr val="bg1"/>
          </a:solidFill>
          <a:ln w="127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8490509" y="1995221"/>
            <a:ext cx="307238" cy="307238"/>
          </a:xfrm>
          <a:prstGeom prst="rect">
            <a:avLst/>
          </a:prstGeom>
        </p:spPr>
      </p:pic>
      <p:sp>
        <p:nvSpPr>
          <p:cNvPr id="17" name="Text 12"/>
          <p:cNvSpPr txBox="1"/>
          <p:nvPr/>
        </p:nvSpPr>
        <p:spPr>
          <a:xfrm>
            <a:off x="9055608" y="1901952"/>
            <a:ext cx="2401824" cy="502920"/>
          </a:xfrm>
          <a:prstGeom prst="rect">
            <a:avLst/>
          </a:prstGeom>
          <a:noFill/>
          <a:ln/>
        </p:spPr>
        <p:txBody>
          <a:bodyPr wrap="square" lIns="0" tIns="0" rIns="0" bIns="0" rtlCol="0" anchor="t"/>
          <a:lstStyle/>
          <a:p>
            <a:pPr indent="0" marL="0">
              <a:buNone/>
            </a:pPr>
            <a:r>
              <a:rPr lang="en-US" sz="1400" b="1" dirty="0">
                <a:solidFill>
                  <a:schemeClr val="tx1"/>
                </a:solidFill>
              </a:rPr>
              <a:t>Honest and safe by design</a:t>
            </a:r>
            <a:endParaRPr lang="en-US" sz="1400" dirty="0"/>
          </a:p>
        </p:txBody>
      </p:sp>
      <p:sp>
        <p:nvSpPr>
          <p:cNvPr id="18" name="Text 13"/>
          <p:cNvSpPr txBox="1"/>
          <p:nvPr/>
        </p:nvSpPr>
        <p:spPr>
          <a:xfrm>
            <a:off x="8369808" y="2514600"/>
            <a:ext cx="3087624" cy="22402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The agent cannot write to the graph and rejects write clauses before execution.</a:t>
            </a:r>
            <a:endParaRPr lang="en-US" sz="1150" dirty="0"/>
          </a:p>
          <a:p>
            <a:pPr marL="342900" indent="-342900">
              <a:spcAft>
                <a:spcPts val="400"/>
              </a:spcAft>
              <a:buSzPct val="100000"/>
              <a:buChar char="•"/>
            </a:pPr>
            <a:r>
              <a:rPr lang="en-US" sz="1150" dirty="0">
                <a:solidFill>
                  <a:schemeClr val="tx1"/>
                </a:solidFill>
              </a:rPr>
              <a:t>When there is no record it says so and lists only the IDs it checked. Verified in rehearsal and ADK eval.</a:t>
            </a:r>
            <a:endParaRPr lang="en-US" sz="1150" dirty="0"/>
          </a:p>
        </p:txBody>
      </p:sp>
      <p:sp>
        <p:nvSpPr>
          <p:cNvPr id="19" name="Shape 14"/>
          <p:cNvSpPr/>
          <p:nvPr/>
        </p:nvSpPr>
        <p:spPr>
          <a:xfrm>
            <a:off x="502920" y="5120640"/>
            <a:ext cx="11183112" cy="1188720"/>
          </a:xfrm>
          <a:prstGeom prst="roundRect">
            <a:avLst>
              <a:gd name="adj" fmla="val 6154"/>
            </a:avLst>
          </a:prstGeom>
          <a:solidFill>
            <a:schemeClr val="accent3"/>
          </a:solidFill>
          <a:ln w="12700">
            <a:solidFill>
              <a:schemeClr val="accent3"/>
            </a:solidFill>
            <a:prstDash val="solid"/>
          </a:ln>
        </p:spPr>
      </p:sp>
      <p:sp>
        <p:nvSpPr>
          <p:cNvPr id="20" name="Text 15"/>
          <p:cNvSpPr txBox="1"/>
          <p:nvPr/>
        </p:nvSpPr>
        <p:spPr>
          <a:xfrm>
            <a:off x="777240" y="5212080"/>
            <a:ext cx="10634472" cy="1005840"/>
          </a:xfrm>
          <a:prstGeom prst="rect">
            <a:avLst/>
          </a:prstGeom>
          <a:noFill/>
          <a:ln/>
        </p:spPr>
        <p:txBody>
          <a:bodyPr wrap="square" lIns="0" tIns="0" rIns="0" bIns="0" rtlCol="0" anchor="t"/>
          <a:lstStyle/>
          <a:p>
            <a:pPr indent="0" marL="0">
              <a:buNone/>
            </a:pPr>
            <a:r>
              <a:rPr lang="en-US" sz="1100" b="1" dirty="0">
                <a:solidFill>
                  <a:schemeClr val="accent1"/>
                </a:solidFill>
              </a:rPr>
              <a:t>Why Gemini + ADK made this possible in days   </a:t>
            </a:r>
            <a:endParaRPr lang="en-US" sz="1100" dirty="0"/>
          </a:p>
          <a:p>
            <a:pPr indent="0" marL="0">
              <a:buNone/>
            </a:pPr>
            <a:r>
              <a:rPr lang="en-US" sz="1100" dirty="0">
                <a:solidFill>
                  <a:schemeClr val="tx1"/>
                </a:solidFill>
              </a:rPr>
              <a:t>Gemini 3.8 Flash writes correct Cypher against a schema it is shown once and keeps a fixed answer format across languages; gemini-embedding-001 indexes Japanese manuals without a local model; ADK gives the tool loop, SSE streaming to the UI, Cloud Run deployment and an evaluation harness. The whole build, from synthetic plant to deployed app, took one week.</a:t>
            </a:r>
            <a:endParaRPr lang="en-US" sz="11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lIns="0" tIns="0" rIns="0" bIns="0" rtlCol="0"/>
          <a:lstStyle/>
          <a:p>
            <a:pPr indent="0" marL="0">
              <a:buNone/>
            </a:pPr>
            <a:r>
              <a:rPr lang="en-US" sz="1000" dirty="0">
                <a:solidFill>
                  <a:srgbClr val="3C4049"/>
                </a:solidFill>
              </a:rPr>
              <a:t>6. Roadmap and team</a:t>
            </a:r>
            <a:endParaRPr lang="en-US" sz="1000" dirty="0"/>
          </a:p>
        </p:txBody>
      </p:sp>
      <p:sp>
        <p:nvSpPr>
          <p:cNvPr id="3" name="Text 0"/>
          <p:cNvSpPr/>
          <p:nvPr>
            <p:ph idx="101" type="title" hasCustomPrompt="1"/>
          </p:nvPr>
        </p:nvSpPr>
        <p:spPr>
          <a:xfrm>
            <a:off x="502920" y="566928"/>
            <a:ext cx="11183112" cy="868680"/>
          </a:xfrm>
          <a:prstGeom prst="rect">
            <a:avLst/>
          </a:prstGeom>
          <a:noFill/>
          <a:ln/>
        </p:spPr>
        <p:txBody>
          <a:bodyPr wrap="square" lIns="0" tIns="0" rIns="0" bIns="0" rtlCol="0" anchor="t"/>
          <a:lstStyle/>
          <a:p>
            <a:pPr algn="l" indent="0" marL="0">
              <a:buNone/>
            </a:pPr>
            <a:r>
              <a:rPr lang="en-US" sz="2000" b="1" dirty="0">
                <a:solidFill>
                  <a:srgbClr val="000000"/>
                </a:solidFill>
              </a:rPr>
              <a:t>Four weeks from a plant's own registers to a working assistant; next: sensor time series, approved write-back, and a mobile UI for the floor</a:t>
            </a:r>
            <a:endParaRPr lang="en-US" sz="2000" dirty="0"/>
          </a:p>
        </p:txBody>
      </p:sp>
      <p:sp>
        <p:nvSpPr>
          <p:cNvPr id="4" name="Shape 2"/>
          <p:cNvSpPr/>
          <p:nvPr/>
        </p:nvSpPr>
        <p:spPr>
          <a:xfrm>
            <a:off x="502920" y="1645920"/>
            <a:ext cx="2658618" cy="1417320"/>
          </a:xfrm>
          <a:prstGeom prst="roundRect">
            <a:avLst>
              <a:gd name="adj" fmla="val 5161"/>
            </a:avLst>
          </a:prstGeom>
          <a:solidFill>
            <a:schemeClr val="bg2"/>
          </a:solidFill>
          <a:ln w="12700">
            <a:solidFill>
              <a:schemeClr val="bg2"/>
            </a:solidFill>
            <a:prstDash val="solid"/>
          </a:ln>
        </p:spPr>
      </p:sp>
      <p:sp>
        <p:nvSpPr>
          <p:cNvPr id="5" name="Text 3"/>
          <p:cNvSpPr txBox="1"/>
          <p:nvPr/>
        </p:nvSpPr>
        <p:spPr>
          <a:xfrm>
            <a:off x="640080" y="1737360"/>
            <a:ext cx="2384298" cy="1234440"/>
          </a:xfrm>
          <a:prstGeom prst="rect">
            <a:avLst/>
          </a:prstGeom>
          <a:noFill/>
          <a:ln/>
        </p:spPr>
        <p:txBody>
          <a:bodyPr wrap="square" lIns="0" tIns="0" rIns="0" bIns="0" rtlCol="0" anchor="t"/>
          <a:lstStyle/>
          <a:p>
            <a:pPr indent="0" marL="0">
              <a:buNone/>
            </a:pPr>
            <a:r>
              <a:rPr lang="en-US" sz="1250" b="1" dirty="0">
                <a:solidFill>
                  <a:schemeClr val="tx1"/>
                </a:solidFill>
              </a:rPr>
              <a:t>Week 1</a:t>
            </a:r>
            <a:endParaRPr lang="en-US" sz="1250" dirty="0"/>
          </a:p>
          <a:p>
            <a:pPr indent="0" marL="0">
              <a:buNone/>
            </a:pPr>
            <a:r>
              <a:rPr lang="en-US" sz="1050" dirty="0">
                <a:solidFill>
                  <a:schemeClr val="tx1"/>
                </a:solidFill>
              </a:rPr>
              <a:t>Data inventory, ontology fit, load the equipment register, parts and people</a:t>
            </a:r>
            <a:endParaRPr lang="en-US" sz="1250" dirty="0"/>
          </a:p>
        </p:txBody>
      </p:sp>
      <p:sp>
        <p:nvSpPr>
          <p:cNvPr id="6" name="Shape 4"/>
          <p:cNvSpPr/>
          <p:nvPr/>
        </p:nvSpPr>
        <p:spPr>
          <a:xfrm>
            <a:off x="3179826" y="2350008"/>
            <a:ext cx="146304" cy="0"/>
          </a:xfrm>
          <a:prstGeom prst="line">
            <a:avLst/>
          </a:prstGeom>
          <a:noFill/>
          <a:ln w="19050">
            <a:solidFill>
              <a:srgbClr val="2F54F7"/>
            </a:solidFill>
            <a:prstDash val="solid"/>
            <a:tailEnd type="triangle"/>
          </a:ln>
        </p:spPr>
      </p:sp>
      <p:sp>
        <p:nvSpPr>
          <p:cNvPr id="7" name="Shape 5"/>
          <p:cNvSpPr/>
          <p:nvPr/>
        </p:nvSpPr>
        <p:spPr>
          <a:xfrm>
            <a:off x="3344418" y="1645920"/>
            <a:ext cx="2658618" cy="1417320"/>
          </a:xfrm>
          <a:prstGeom prst="roundRect">
            <a:avLst>
              <a:gd name="adj" fmla="val 5161"/>
            </a:avLst>
          </a:prstGeom>
          <a:solidFill>
            <a:schemeClr val="bg2"/>
          </a:solidFill>
          <a:ln w="12700">
            <a:solidFill>
              <a:schemeClr val="bg2"/>
            </a:solidFill>
            <a:prstDash val="solid"/>
          </a:ln>
        </p:spPr>
      </p:sp>
      <p:sp>
        <p:nvSpPr>
          <p:cNvPr id="8" name="Text 6"/>
          <p:cNvSpPr txBox="1"/>
          <p:nvPr/>
        </p:nvSpPr>
        <p:spPr>
          <a:xfrm>
            <a:off x="3481578" y="1737360"/>
            <a:ext cx="2384298" cy="1234440"/>
          </a:xfrm>
          <a:prstGeom prst="rect">
            <a:avLst/>
          </a:prstGeom>
          <a:noFill/>
          <a:ln/>
        </p:spPr>
        <p:txBody>
          <a:bodyPr wrap="square" lIns="0" tIns="0" rIns="0" bIns="0" rtlCol="0" anchor="t"/>
          <a:lstStyle/>
          <a:p>
            <a:pPr indent="0" marL="0">
              <a:buNone/>
            </a:pPr>
            <a:r>
              <a:rPr lang="en-US" sz="1250" b="1" dirty="0">
                <a:solidFill>
                  <a:schemeClr val="tx1"/>
                </a:solidFill>
              </a:rPr>
              <a:t>Week 2</a:t>
            </a:r>
            <a:endParaRPr lang="en-US" sz="1250" dirty="0"/>
          </a:p>
          <a:p>
            <a:pPr indent="0" marL="0">
              <a:buNone/>
            </a:pPr>
            <a:r>
              <a:rPr lang="en-US" sz="1050" dirty="0">
                <a:solidFill>
                  <a:schemeClr val="tx1"/>
                </a:solidFill>
              </a:rPr>
              <a:t>Work orders: normalise names, build the failure-mode dictionary, load history</a:t>
            </a:r>
            <a:endParaRPr lang="en-US" sz="1250" dirty="0"/>
          </a:p>
        </p:txBody>
      </p:sp>
      <p:sp>
        <p:nvSpPr>
          <p:cNvPr id="9" name="Shape 7"/>
          <p:cNvSpPr/>
          <p:nvPr/>
        </p:nvSpPr>
        <p:spPr>
          <a:xfrm>
            <a:off x="6021324" y="2350008"/>
            <a:ext cx="146304" cy="0"/>
          </a:xfrm>
          <a:prstGeom prst="line">
            <a:avLst/>
          </a:prstGeom>
          <a:noFill/>
          <a:ln w="19050">
            <a:solidFill>
              <a:srgbClr val="2F54F7"/>
            </a:solidFill>
            <a:prstDash val="solid"/>
            <a:tailEnd type="triangle"/>
          </a:ln>
        </p:spPr>
      </p:sp>
      <p:sp>
        <p:nvSpPr>
          <p:cNvPr id="10" name="Shape 8"/>
          <p:cNvSpPr/>
          <p:nvPr/>
        </p:nvSpPr>
        <p:spPr>
          <a:xfrm>
            <a:off x="6185916" y="1645920"/>
            <a:ext cx="2658618"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6323076" y="1737360"/>
            <a:ext cx="2384298" cy="1234440"/>
          </a:xfrm>
          <a:prstGeom prst="rect">
            <a:avLst/>
          </a:prstGeom>
          <a:noFill/>
          <a:ln/>
        </p:spPr>
        <p:txBody>
          <a:bodyPr wrap="square" lIns="0" tIns="0" rIns="0" bIns="0" rtlCol="0" anchor="t"/>
          <a:lstStyle/>
          <a:p>
            <a:pPr indent="0" marL="0">
              <a:buNone/>
            </a:pPr>
            <a:r>
              <a:rPr lang="en-US" sz="1250" b="1" dirty="0">
                <a:solidFill>
                  <a:schemeClr val="tx1"/>
                </a:solidFill>
              </a:rPr>
              <a:t>Week 3</a:t>
            </a:r>
            <a:endParaRPr lang="en-US" sz="1250" dirty="0"/>
          </a:p>
          <a:p>
            <a:pPr indent="0" marL="0">
              <a:buNone/>
            </a:pPr>
            <a:r>
              <a:rPr lang="en-US" sz="1050" dirty="0">
                <a:solidFill>
                  <a:schemeClr val="tx1"/>
                </a:solidFill>
              </a:rPr>
              <a:t>Manuals: chunk, embed, link to components and failure modes; define reference questions</a:t>
            </a:r>
            <a:endParaRPr lang="en-US" sz="1250" dirty="0"/>
          </a:p>
        </p:txBody>
      </p:sp>
      <p:sp>
        <p:nvSpPr>
          <p:cNvPr id="12" name="Shape 10"/>
          <p:cNvSpPr/>
          <p:nvPr/>
        </p:nvSpPr>
        <p:spPr>
          <a:xfrm>
            <a:off x="8862822" y="2350008"/>
            <a:ext cx="146304" cy="0"/>
          </a:xfrm>
          <a:prstGeom prst="line">
            <a:avLst/>
          </a:prstGeom>
          <a:noFill/>
          <a:ln w="19050">
            <a:solidFill>
              <a:srgbClr val="2F54F7"/>
            </a:solidFill>
            <a:prstDash val="solid"/>
            <a:tailEnd type="triangle"/>
          </a:ln>
        </p:spPr>
      </p:sp>
      <p:sp>
        <p:nvSpPr>
          <p:cNvPr id="13" name="Shape 11"/>
          <p:cNvSpPr/>
          <p:nvPr/>
        </p:nvSpPr>
        <p:spPr>
          <a:xfrm>
            <a:off x="9027414" y="1645920"/>
            <a:ext cx="2658618" cy="1417320"/>
          </a:xfrm>
          <a:prstGeom prst="roundRect">
            <a:avLst>
              <a:gd name="adj" fmla="val 5161"/>
            </a:avLst>
          </a:prstGeom>
          <a:solidFill>
            <a:schemeClr val="accent1"/>
          </a:solidFill>
          <a:ln w="12700">
            <a:solidFill>
              <a:schemeClr val="accent1"/>
            </a:solidFill>
            <a:prstDash val="solid"/>
          </a:ln>
        </p:spPr>
      </p:sp>
      <p:sp>
        <p:nvSpPr>
          <p:cNvPr id="14" name="Text 12"/>
          <p:cNvSpPr txBox="1"/>
          <p:nvPr/>
        </p:nvSpPr>
        <p:spPr>
          <a:xfrm>
            <a:off x="9164574" y="1737360"/>
            <a:ext cx="2384298" cy="1234440"/>
          </a:xfrm>
          <a:prstGeom prst="rect">
            <a:avLst/>
          </a:prstGeom>
          <a:noFill/>
          <a:ln/>
        </p:spPr>
        <p:txBody>
          <a:bodyPr wrap="square" lIns="0" tIns="0" rIns="0" bIns="0" rtlCol="0" anchor="t"/>
          <a:lstStyle/>
          <a:p>
            <a:pPr indent="0" marL="0">
              <a:buNone/>
            </a:pPr>
            <a:r>
              <a:rPr lang="en-US" sz="1250" b="1" dirty="0">
                <a:solidFill>
                  <a:schemeClr val="bg1"/>
                </a:solidFill>
              </a:rPr>
              <a:t>Week 4</a:t>
            </a:r>
            <a:endParaRPr lang="en-US" sz="1250" dirty="0"/>
          </a:p>
          <a:p>
            <a:pPr indent="0" marL="0">
              <a:buNone/>
            </a:pPr>
            <a:r>
              <a:rPr lang="en-US" sz="1050" dirty="0">
                <a:solidFill>
                  <a:schemeClr val="bg1"/>
                </a:solidFill>
              </a:rPr>
              <a:t>Agent prompts, evaluation with floor engineers, evidence graph, hand-over</a:t>
            </a:r>
            <a:endParaRPr lang="en-US" sz="1250" dirty="0"/>
          </a:p>
        </p:txBody>
      </p:sp>
      <p:sp>
        <p:nvSpPr>
          <p:cNvPr id="15" name="Text 13"/>
          <p:cNvSpPr txBox="1"/>
          <p:nvPr/>
        </p:nvSpPr>
        <p:spPr>
          <a:xfrm>
            <a:off x="502920" y="3246120"/>
            <a:ext cx="5486400" cy="320040"/>
          </a:xfrm>
          <a:prstGeom prst="rect">
            <a:avLst/>
          </a:prstGeom>
          <a:noFill/>
          <a:ln/>
        </p:spPr>
        <p:txBody>
          <a:bodyPr wrap="square" lIns="0" tIns="0" rIns="0" bIns="0" rtlCol="0" anchor="t"/>
          <a:lstStyle/>
          <a:p>
            <a:pPr indent="0" marL="0">
              <a:buNone/>
            </a:pPr>
            <a:r>
              <a:rPr lang="en-US" sz="1100" b="1" dirty="0">
                <a:solidFill>
                  <a:schemeClr val="tx2"/>
                </a:solidFill>
              </a:rPr>
              <a:t>After the first four weeks</a:t>
            </a:r>
            <a:endParaRPr lang="en-US" sz="1100" dirty="0"/>
          </a:p>
        </p:txBody>
      </p:sp>
      <p:sp>
        <p:nvSpPr>
          <p:cNvPr id="16" name="Shape 14"/>
          <p:cNvSpPr/>
          <p:nvPr/>
        </p:nvSpPr>
        <p:spPr>
          <a:xfrm>
            <a:off x="502920" y="3611880"/>
            <a:ext cx="3605784" cy="1143000"/>
          </a:xfrm>
          <a:prstGeom prst="roundRect">
            <a:avLst>
              <a:gd name="adj" fmla="val 6400"/>
            </a:avLst>
          </a:prstGeom>
          <a:solidFill>
            <a:schemeClr val="accent3"/>
          </a:solidFill>
          <a:ln w="12700">
            <a:solidFill>
              <a:schemeClr val="accent3"/>
            </a:solidFill>
            <a:prstDash val="solid"/>
          </a:ln>
        </p:spPr>
      </p:sp>
      <p:sp>
        <p:nvSpPr>
          <p:cNvPr id="17" name="Text 15"/>
          <p:cNvSpPr txBox="1"/>
          <p:nvPr/>
        </p:nvSpPr>
        <p:spPr>
          <a:xfrm>
            <a:off x="640080" y="3675888"/>
            <a:ext cx="3331464" cy="1051560"/>
          </a:xfrm>
          <a:prstGeom prst="rect">
            <a:avLst/>
          </a:prstGeom>
          <a:noFill/>
          <a:ln/>
        </p:spPr>
        <p:txBody>
          <a:bodyPr wrap="square" lIns="0" tIns="0" rIns="0" bIns="0" rtlCol="0" anchor="t"/>
          <a:lstStyle/>
          <a:p>
            <a:pPr indent="0" marL="0">
              <a:buNone/>
            </a:pPr>
            <a:r>
              <a:rPr lang="en-US" sz="1200" b="1" dirty="0">
                <a:solidFill>
                  <a:schemeClr val="accent1"/>
                </a:solidFill>
              </a:rPr>
              <a:t>Sensor time series</a:t>
            </a:r>
            <a:endParaRPr lang="en-US" sz="1200" dirty="0"/>
          </a:p>
          <a:p>
            <a:pPr indent="0" marL="0">
              <a:buNone/>
            </a:pPr>
            <a:r>
              <a:rPr lang="en-US" sz="1050" dirty="0">
                <a:solidFill>
                  <a:schemeClr val="tx1"/>
                </a:solidFill>
              </a:rPr>
              <a:t>Attach vibration and temperature trends to equipment nodes; predict the failure mode and propose the procedure before the stop.</a:t>
            </a:r>
            <a:endParaRPr lang="en-US" sz="1200" dirty="0"/>
          </a:p>
        </p:txBody>
      </p:sp>
      <p:sp>
        <p:nvSpPr>
          <p:cNvPr id="18" name="Shape 16"/>
          <p:cNvSpPr/>
          <p:nvPr/>
        </p:nvSpPr>
        <p:spPr>
          <a:xfrm>
            <a:off x="4291584" y="3611880"/>
            <a:ext cx="3605784" cy="1143000"/>
          </a:xfrm>
          <a:prstGeom prst="roundRect">
            <a:avLst>
              <a:gd name="adj" fmla="val 6400"/>
            </a:avLst>
          </a:prstGeom>
          <a:solidFill>
            <a:schemeClr val="accent3"/>
          </a:solidFill>
          <a:ln w="12700">
            <a:solidFill>
              <a:schemeClr val="accent3"/>
            </a:solidFill>
            <a:prstDash val="solid"/>
          </a:ln>
        </p:spPr>
      </p:sp>
      <p:sp>
        <p:nvSpPr>
          <p:cNvPr id="19" name="Text 17"/>
          <p:cNvSpPr txBox="1"/>
          <p:nvPr/>
        </p:nvSpPr>
        <p:spPr>
          <a:xfrm>
            <a:off x="4428744" y="3675888"/>
            <a:ext cx="3331464" cy="1051560"/>
          </a:xfrm>
          <a:prstGeom prst="rect">
            <a:avLst/>
          </a:prstGeom>
          <a:noFill/>
          <a:ln/>
        </p:spPr>
        <p:txBody>
          <a:bodyPr wrap="square" lIns="0" tIns="0" rIns="0" bIns="0" rtlCol="0" anchor="t"/>
          <a:lstStyle/>
          <a:p>
            <a:pPr indent="0" marL="0">
              <a:buNone/>
            </a:pPr>
            <a:r>
              <a:rPr lang="en-US" sz="1200" b="1" dirty="0">
                <a:solidFill>
                  <a:schemeClr val="accent1"/>
                </a:solidFill>
              </a:rPr>
              <a:t>Approved write-back</a:t>
            </a:r>
            <a:endParaRPr lang="en-US" sz="1200" dirty="0"/>
          </a:p>
          <a:p>
            <a:pPr indent="0" marL="0">
              <a:buNone/>
            </a:pPr>
            <a:r>
              <a:rPr lang="en-US" sz="1050" dirty="0">
                <a:solidFill>
                  <a:schemeClr val="tx1"/>
                </a:solidFill>
              </a:rPr>
              <a:t>Draft the work order from the conversation; a person approves before anything is written to the graph.</a:t>
            </a:r>
            <a:endParaRPr lang="en-US" sz="1200" dirty="0"/>
          </a:p>
        </p:txBody>
      </p:sp>
      <p:sp>
        <p:nvSpPr>
          <p:cNvPr id="20" name="Shape 18"/>
          <p:cNvSpPr/>
          <p:nvPr/>
        </p:nvSpPr>
        <p:spPr>
          <a:xfrm>
            <a:off x="8080248" y="3611880"/>
            <a:ext cx="3605784" cy="1143000"/>
          </a:xfrm>
          <a:prstGeom prst="roundRect">
            <a:avLst>
              <a:gd name="adj" fmla="val 6400"/>
            </a:avLst>
          </a:prstGeom>
          <a:solidFill>
            <a:schemeClr val="accent3"/>
          </a:solidFill>
          <a:ln w="12700">
            <a:solidFill>
              <a:schemeClr val="accent3"/>
            </a:solidFill>
            <a:prstDash val="solid"/>
          </a:ln>
        </p:spPr>
      </p:sp>
      <p:sp>
        <p:nvSpPr>
          <p:cNvPr id="21" name="Text 19"/>
          <p:cNvSpPr txBox="1"/>
          <p:nvPr/>
        </p:nvSpPr>
        <p:spPr>
          <a:xfrm>
            <a:off x="8217408" y="3675888"/>
            <a:ext cx="3331464" cy="1051560"/>
          </a:xfrm>
          <a:prstGeom prst="rect">
            <a:avLst/>
          </a:prstGeom>
          <a:noFill/>
          <a:ln/>
        </p:spPr>
        <p:txBody>
          <a:bodyPr wrap="square" lIns="0" tIns="0" rIns="0" bIns="0" rtlCol="0" anchor="t"/>
          <a:lstStyle/>
          <a:p>
            <a:pPr indent="0" marL="0">
              <a:buNone/>
            </a:pPr>
            <a:r>
              <a:rPr lang="en-US" sz="1200" b="1" dirty="0">
                <a:solidFill>
                  <a:schemeClr val="accent1"/>
                </a:solidFill>
              </a:rPr>
              <a:t>Mobile UI for the floor</a:t>
            </a:r>
            <a:endParaRPr lang="en-US" sz="1200" dirty="0"/>
          </a:p>
          <a:p>
            <a:pPr indent="0" marL="0">
              <a:buNone/>
            </a:pPr>
            <a:r>
              <a:rPr lang="en-US" sz="1050" dirty="0">
                <a:solidFill>
                  <a:schemeClr val="tx1"/>
                </a:solidFill>
              </a:rPr>
              <a:t>Voice and camera input on a phone, offline manual pages, the same evidence graph.</a:t>
            </a:r>
            <a:endParaRPr lang="en-US" sz="1200" dirty="0"/>
          </a:p>
        </p:txBody>
      </p:sp>
      <p:sp>
        <p:nvSpPr>
          <p:cNvPr id="22" name="Text 20"/>
          <p:cNvSpPr txBox="1"/>
          <p:nvPr/>
        </p:nvSpPr>
        <p:spPr>
          <a:xfrm>
            <a:off x="502920" y="4937760"/>
            <a:ext cx="5486400" cy="320040"/>
          </a:xfrm>
          <a:prstGeom prst="rect">
            <a:avLst/>
          </a:prstGeom>
          <a:noFill/>
          <a:ln/>
        </p:spPr>
        <p:txBody>
          <a:bodyPr wrap="square" lIns="0" tIns="0" rIns="0" bIns="0" rtlCol="0" anchor="t"/>
          <a:lstStyle/>
          <a:p>
            <a:pPr indent="0" marL="0">
              <a:buNone/>
            </a:pPr>
            <a:r>
              <a:rPr lang="en-US" sz="1100" b="1" dirty="0">
                <a:solidFill>
                  <a:schemeClr val="tx2"/>
                </a:solidFill>
              </a:rPr>
              <a:t>Team</a:t>
            </a:r>
            <a:endParaRPr lang="en-US" sz="1100" dirty="0"/>
          </a:p>
        </p:txBody>
      </p:sp>
      <p:sp>
        <p:nvSpPr>
          <p:cNvPr id="23" name="Shape 21"/>
          <p:cNvSpPr/>
          <p:nvPr/>
        </p:nvSpPr>
        <p:spPr>
          <a:xfrm>
            <a:off x="502920" y="5257800"/>
            <a:ext cx="5500116" cy="1051560"/>
          </a:xfrm>
          <a:prstGeom prst="roundRect">
            <a:avLst>
              <a:gd name="adj" fmla="val 6957"/>
            </a:avLst>
          </a:prstGeom>
          <a:solidFill>
            <a:schemeClr val="bg2"/>
          </a:solidFill>
          <a:ln w="12700">
            <a:solidFill>
              <a:schemeClr val="bg2"/>
            </a:solidFill>
            <a:prstDash val="solid"/>
          </a:ln>
        </p:spPr>
      </p:sp>
      <p:sp>
        <p:nvSpPr>
          <p:cNvPr id="24" name="Text 22"/>
          <p:cNvSpPr txBox="1"/>
          <p:nvPr/>
        </p:nvSpPr>
        <p:spPr>
          <a:xfrm>
            <a:off x="640080" y="5303520"/>
            <a:ext cx="5225796" cy="987552"/>
          </a:xfrm>
          <a:prstGeom prst="rect">
            <a:avLst/>
          </a:prstGeom>
          <a:noFill/>
          <a:ln/>
        </p:spPr>
        <p:txBody>
          <a:bodyPr wrap="square" lIns="0" tIns="0" rIns="0" bIns="0" rtlCol="0" anchor="t"/>
          <a:lstStyle/>
          <a:p>
            <a:pPr indent="0" marL="0">
              <a:buNone/>
            </a:pPr>
            <a:r>
              <a:rPr lang="en-US" sz="1200" b="1" dirty="0">
                <a:solidFill>
                  <a:schemeClr val="tx1"/>
                </a:solidFill>
              </a:rPr>
              <a:t>Kakeru Kurosawa</a:t>
            </a:r>
            <a:endParaRPr lang="en-US" sz="1200" dirty="0"/>
          </a:p>
          <a:p>
            <a:pPr indent="0" marL="0">
              <a:buNone/>
            </a:pPr>
            <a:r>
              <a:rPr lang="en-US" sz="1000" b="1" dirty="0">
                <a:solidFill>
                  <a:schemeClr val="accent1"/>
                </a:solidFill>
              </a:rPr>
              <a:t>Product, domain &amp; engineering lead</a:t>
            </a:r>
            <a:endParaRPr lang="en-US" sz="1200" dirty="0"/>
          </a:p>
          <a:p>
            <a:pPr indent="0" marL="0">
              <a:buNone/>
            </a:pPr>
            <a:r>
              <a:rPr lang="en-US" sz="900" dirty="0">
                <a:solidFill>
                  <a:schemeClr val="tx1"/>
                </a:solidFill>
              </a:rPr>
              <a:t>Built the ontology, the agent, the graph pipeline and the web app. COO at AIdeaLab; previously PwC consulting and new-business development for edge AI at Sony, working with manufacturing customers.</a:t>
            </a:r>
            <a:endParaRPr lang="en-US" sz="1200" dirty="0"/>
          </a:p>
        </p:txBody>
      </p:sp>
      <p:sp>
        <p:nvSpPr>
          <p:cNvPr id="25" name="Shape 23"/>
          <p:cNvSpPr/>
          <p:nvPr/>
        </p:nvSpPr>
        <p:spPr>
          <a:xfrm>
            <a:off x="6185916" y="5257800"/>
            <a:ext cx="5500116" cy="1051560"/>
          </a:xfrm>
          <a:prstGeom prst="roundRect">
            <a:avLst>
              <a:gd name="adj" fmla="val 6957"/>
            </a:avLst>
          </a:prstGeom>
          <a:solidFill>
            <a:schemeClr val="bg2"/>
          </a:solidFill>
          <a:ln w="12700">
            <a:solidFill>
              <a:schemeClr val="bg2"/>
            </a:solidFill>
            <a:prstDash val="solid"/>
          </a:ln>
        </p:spPr>
      </p:sp>
      <p:sp>
        <p:nvSpPr>
          <p:cNvPr id="26" name="Text 24"/>
          <p:cNvSpPr txBox="1"/>
          <p:nvPr/>
        </p:nvSpPr>
        <p:spPr>
          <a:xfrm>
            <a:off x="6323076" y="5303520"/>
            <a:ext cx="5225796" cy="987552"/>
          </a:xfrm>
          <a:prstGeom prst="rect">
            <a:avLst/>
          </a:prstGeom>
          <a:noFill/>
          <a:ln/>
        </p:spPr>
        <p:txBody>
          <a:bodyPr wrap="square" lIns="0" tIns="0" rIns="0" bIns="0" rtlCol="0" anchor="t"/>
          <a:lstStyle/>
          <a:p>
            <a:pPr indent="0" marL="0">
              <a:buNone/>
            </a:pPr>
            <a:r>
              <a:rPr lang="en-US" sz="1200" b="1" dirty="0">
                <a:solidFill>
                  <a:schemeClr val="tx1"/>
                </a:solidFill>
              </a:rPr>
              <a:t>Kotaro Fukuo</a:t>
            </a:r>
            <a:endParaRPr lang="en-US" sz="1200" dirty="0"/>
          </a:p>
          <a:p>
            <a:pPr indent="0" marL="0">
              <a:buNone/>
            </a:pPr>
            <a:r>
              <a:rPr lang="en-US" sz="1000" b="1" dirty="0">
                <a:solidFill>
                  <a:schemeClr val="accent1"/>
                </a:solidFill>
              </a:rPr>
              <a:t>Software engineering</a:t>
            </a:r>
            <a:endParaRPr lang="en-US" sz="1200" dirty="0"/>
          </a:p>
          <a:p>
            <a:pPr indent="0" marL="0">
              <a:buNone/>
            </a:pPr>
            <a:r>
              <a:rPr lang="en-US" sz="900" dirty="0">
                <a:solidFill>
                  <a:schemeClr val="tx1"/>
                </a:solidFill>
              </a:rPr>
              <a:t>Software engineer with 8+ years in mobile and backend (React Native, TypeScript, Ruby on Rails, AWS); owns the field-facing mobile UI on the roadmap. B.E. Mechanical Engineering Informatics, Meiji University.</a:t>
            </a:r>
            <a:endParaRPr lang="en-US" sz="1200" dirty="0"/>
          </a:p>
        </p:txBody>
      </p:sp>
      <p:sp>
        <p:nvSpPr>
          <p:cNvPr id="25" name="Slide Number Placeholder 0"/>
          <p:cNvSpPr>
            <a:spLocks noGrp="1"/>
          </p:cNvSpPr>
          <p:nvPr>
            <p:ph type="sldNum" sz="quarter" idx="4294967295"/>
          </p:nvPr>
        </p:nvSpPr>
        <p:spPr>
          <a:xfrm>
            <a:off x="10954512" y="6419088"/>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3C404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914400" y="2651760"/>
            <a:ext cx="10332720" cy="1097280"/>
          </a:xfrm>
          <a:prstGeom prst="rect">
            <a:avLst/>
          </a:prstGeom>
          <a:noFill/>
          <a:ln/>
        </p:spPr>
        <p:txBody>
          <a:bodyPr wrap="square" lIns="0" tIns="0" rIns="0" bIns="0" rtlCol="0" anchor="t"/>
          <a:lstStyle/>
          <a:p>
            <a:pPr algn="l" indent="0" marL="0">
              <a:buNone/>
            </a:pPr>
            <a:r>
              <a:rPr lang="en-US" sz="3400" b="1" dirty="0">
                <a:solidFill>
                  <a:srgbClr val="FFFFFF"/>
                </a:solidFill>
              </a:rPr>
              <a:t>Try it, read the code, ask it a question.</a:t>
            </a:r>
            <a:endParaRPr lang="en-US" sz="3400" dirty="0"/>
          </a:p>
        </p:txBody>
      </p:sp>
      <p:sp>
        <p:nvSpPr>
          <p:cNvPr id="3" name="Text 0"/>
          <p:cNvSpPr/>
          <p:nvPr>
            <p:ph idx="101" type="body" hasCustomPrompt="1"/>
          </p:nvPr>
        </p:nvSpPr>
        <p:spPr>
          <a:xfrm>
            <a:off x="914400" y="3840480"/>
            <a:ext cx="10332720" cy="1280160"/>
          </a:xfrm>
          <a:prstGeom prst="rect">
            <a:avLst/>
          </a:prstGeom>
          <a:noFill/>
          <a:ln/>
        </p:spPr>
        <p:txBody>
          <a:bodyPr wrap="square" lIns="0" tIns="0" rIns="0" bIns="0" rtlCol="0" anchor="t"/>
          <a:lstStyle/>
          <a:p>
            <a:pPr indent="0" marL="0">
              <a:buNone/>
            </a:pPr>
            <a:r>
              <a:rPr lang="en-US" sz="1600" dirty="0">
                <a:solidFill>
                  <a:srgbClr val="DCE4FE"/>
                </a:solidFill>
              </a:rPr>
              <a:t>Live app   kg-web-7ikzkb2evq-an.a.run.app</a:t>
            </a:r>
            <a:endParaRPr lang="en-US" sz="1600" dirty="0"/>
          </a:p>
          <a:p>
            <a:pPr indent="0" marL="0">
              <a:buNone/>
            </a:pPr>
            <a:r>
              <a:rPr lang="en-US" sz="1600" dirty="0">
                <a:solidFill>
                  <a:srgbClr val="DCE4FE"/>
                </a:solidFill>
              </a:rPr>
              <a:t>Source     github.com/kurorooooo/kg-maintenance-agent</a:t>
            </a:r>
            <a:endParaRPr lang="en-US" sz="1600" dirty="0"/>
          </a:p>
          <a:p>
            <a:pPr indent="0" marL="0">
              <a:buNone/>
            </a:pPr>
            <a:endParaRPr lang="en-US" sz="1600" dirty="0"/>
          </a:p>
          <a:p>
            <a:pPr indent="0" marL="0">
              <a:buNone/>
            </a:pPr>
            <a:r>
              <a:rPr lang="en-US" sz="1600" dirty="0">
                <a:solidFill>
                  <a:srgbClr val="DCE4FE"/>
                </a:solidFill>
              </a:rPr>
              <a:t>Kakeru Kurosawa · Kotaro Fukuo</a:t>
            </a:r>
            <a:endParaRPr lang="en-US" sz="1600" dirty="0"/>
          </a:p>
        </p:txBody>
      </p:sp>
    </p:spTree>
  </p:cSld>
  <p:clrMapOvr>
    <a:masterClrMapping/>
  </p:clrMapOvr>
</p:sld>
</file>

<file path=ppt/theme/theme1.xml><?xml version="1.0" encoding="utf-8"?>
<a:theme xmlns:a="http://schemas.openxmlformats.org/drawingml/2006/main" name="Plant A Maintenance Agent">
  <a:themeElements>
    <a:clrScheme name="Plant A Maintenance Agent">
      <a:dk1>
        <a:srgbClr val="000000"/>
      </a:dk1>
      <a:lt1>
        <a:srgbClr val="FFFFFF"/>
      </a:lt1>
      <a:dk2>
        <a:srgbClr val="3C4049"/>
      </a:dk2>
      <a:lt2>
        <a:srgbClr val="DCE4FE"/>
      </a:lt2>
      <a:accent1>
        <a:srgbClr val="2F54F7"/>
      </a:accent1>
      <a:accent2>
        <a:srgbClr val="DCE4FE"/>
      </a:accent2>
      <a:accent3>
        <a:srgbClr val="EEF0F3"/>
      </a:accent3>
      <a:accent4>
        <a:srgbClr val="3C4049"/>
      </a:accent4>
      <a:accent5>
        <a:srgbClr val="2F54F7"/>
      </a:accent5>
      <a:accent6>
        <a:srgbClr val="EEF0F3"/>
      </a:accent6>
      <a:hlink>
        <a:srgbClr val="2F54F7"/>
      </a:hlink>
      <a:folHlink>
        <a:srgbClr val="3C4049"/>
      </a:folHlink>
    </a:clrScheme>
    <a:fontScheme name="Plant A Maintenance Agent">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A Maintenance Agent — AI Builder Cup 2026</dc:title>
  <dc:subject>PptxGenJS Presentation</dc:subject>
  <dc:creator>Kakeru Kurosawa, Kotaro Fukuo</dc:creator>
  <cp:lastModifiedBy>Kakeru Kurosawa, Kotaro Fukuo</cp:lastModifiedBy>
  <cp:revision>1</cp:revision>
  <dcterms:created xsi:type="dcterms:W3CDTF">2026-10-13T00:42:15Z</dcterms:created>
  <dcterms:modified xsi:type="dcterms:W3CDTF">2026-10-13T00:42:15Z</dcterms:modified>
</cp:coreProperties>
</file>